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1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Cenário de referência</c:v>
                </c:pt>
              </c:strCache>
            </c:strRef>
          </c:tx>
          <c:spPr>
            <a:solidFill>
              <a:srgbClr val="5A71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6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Custo (R$)</c:v>
                  </c:pt>
                  <c:pt idx="1">
                    <c:v>Distância (km)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2129</c:v>
                </c:pt>
                <c:pt idx="1">
                  <c:v>2119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Rota recomendada</c:v>
                </c:pt>
              </c:strCache>
            </c:strRef>
          </c:tx>
          <c:spPr>
            <a:solidFill>
              <a:srgbClr val="0E7C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6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Custo (R$)</c:v>
                  </c:pt>
                  <c:pt idx="1">
                    <c:v>Distância (km)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1223</c:v>
                </c:pt>
                <c:pt idx="1">
                  <c:v>1596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226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226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71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2263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 protótipo não usa dados inventados: são as 2.040 agências do Itaú cadastradas no Banco Central. Explicar que a apresentação percorre o caminho completo, da base bruta até a tela de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mapa da apresentação. Deixa claro que as três aulas estão contempladas e que o protótipo é a materialização delas.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a visão em voz alta na apresentação: ela resume o produto em uma frase e ancora tudo o que vem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perguntarem por que só uma persona: o MVP existe para validar uma hipótese. Mais personas no piloto diluiriam o aprendizado. As descartadas estão registradas com motivo, o que mostra que a decisão foi deliberada.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que conecta persona e produto. Cada dor declarada tem um lugar concreto na interface; é o argumento de que a persona não foi decorativa.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Demonstrar cada jornada ao vivo, na ordem, é o roteiro sugerido para a parte prática.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vêm do documento de checkpoint. Servem para mostrar que a priorização foi um processo, não um palpite.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de aderência: mostra que o que foi prometido no Canvas foi entregue.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Canvas é o contrato do MVP. Nos slides seguintes, cada linha dele é confrontada com o que foi efetivamente entregue.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responde à pergunta 'qual decisão de negócio muda com o sistema'. É o cerne do Business Understanding.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Sinceridade aqui vale mais que otimismo: apontar o item provisório antes de ser perguntado demonstra domínio do próprio escopo.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slide para mostrar maturidade de projeto: o Canvas previu, a execução confirmou, e cada um tem resposta concreta.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que a base pública de bairros trouxe um problema adicional, não previsto, detalhado no slide sobre dado sujo.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inventar metas numéricas que o documento deixou em aberto. Explicar por que elas dependem da linha de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ATENÇÃO: preencher o link do repositório, confirmar README e commits antes de apresentar. O documento de checkpoint marca esses três como pendentes.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Enquadrar a dor antes da solução. O número do cartão não é uma métrica oficial: é a leitura de um trecho real da base, mostrando que a decisão de modal tem peso.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importante para a banca: o que ficou de fora ficou por decisão de escopo, não por limitação. O código isola a camada de dados e a função de sequenciamento.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resposta direta à pergunta 'onde está o modelo?'. São dois, com papéis distintos: o k-means organiza a rede de agências, a regressão precifica o deslocamento. Os dois próximos slides detalham cada 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 escolha do Itaú foi metodológica, não comercial. Qualquer instituição da base do Bacen entraria no mesmo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costuma render pergunta: por que não usar Google Maps. Resposta: custo e chave de API, fora do escopo. E para roteirização entre cidades a coordenada de bairro já basta.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história para a banca: mostra método. O erro não foi encontrado olhando o dado, e sim olhando o resultado — o mapa denunciou. Depois foi quantificado e corrigido.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perguntarem por que 40: é um parâmetro de produto, visível no código. Vem da agenda: duas visitas por dia, vinte dias úteis, mais deslocamento.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peso entre custo e tempo é o coração da tela de objetivo. Demonstrar ao vivo arrastando o controle e mostrando a recomendação mudar.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a decisão de arquitetura: a fronteira entre dado e interface é explícita, o que era um requisito do enunciado.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é o momento de abrir o protótipo e percorrer as seis etapas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que a comparação é justa: mesmas agências, mesmo modelo, muda só a ordem e a escolha de modal. Não é comparar com um cenário inventado ruim de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credibilidade. Antecipa a pergunta 'esses números são reais?' e responde com precisão, item por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prestação de contas. Oito de nove entregues, um parcial e declarado.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Lista de verificação final. Conferir item a item antes de submeter a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Convidar perguntas e ter o protótipo aberto para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659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Roteirização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9748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7FC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Visitas às Agências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navegável de MVP — da base pública do Banco Central à rota recomendada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343400"/>
            <a:ext cx="2926080" cy="0"/>
          </a:xfrm>
          <a:prstGeom prst="line">
            <a:avLst/>
          </a:prstGeom>
          <a:noFill/>
          <a:ln w="31750">
            <a:solidFill>
              <a:srgbClr val="0E7C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5720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2.040 agências reais</a:t>
            </a:r>
            <a:pPr indent="0" marL="0">
              <a:buNone/>
            </a:pPr>
            <a:r>
              <a:rPr lang="en-US" sz="1300" dirty="0">
                <a:solidFill>
                  <a:srgbClr val="AF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k-means formando 106 regionais   ·   curvas calibradas com ANP, ANTT e ANAC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entrega cobre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e Gestão de Dados (CCD610) — Projeto Integrador, checkpoint das aulas 1, 2 e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164592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47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488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Engenharia de Software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420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Versionamento, repositório, README, dependências e histórico de commits.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394960" cy="164592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847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1488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CRISP-DM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5420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Entendimento do negócio e dos dados: objetivos, datasets, riscos, qualidade e critérios de sucesso.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5394960" cy="164592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721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02336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 Inception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41655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do produto, personas, brainstorming, ondas de funcionalidades e Canvas MVP.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520440"/>
            <a:ext cx="5394960" cy="1645920"/>
          </a:xfrm>
          <a:prstGeom prst="roundRect">
            <a:avLst>
              <a:gd name="adj" fmla="val 3333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3721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02336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Protótipo navegável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41655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implementação do MVP definido nas três frentes, com dados reais e dois modelos.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806440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2688" y="5952744"/>
            <a:ext cx="10296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não é um exercício separado: cada decisão dele vem de um item das três frentes, e a apresentação percorre esse caminho.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do produto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Declaração construída no formato de visão do Lean Inception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331720" y="1545336"/>
            <a:ext cx="9189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gerentes regionais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048256"/>
            <a:ext cx="10881360" cy="0"/>
          </a:xfrm>
          <a:prstGeom prst="line">
            <a:avLst/>
          </a:prstGeom>
          <a:noFill/>
          <a:ln w="12700">
            <a:solidFill>
              <a:srgbClr val="D9E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945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2167128"/>
            <a:ext cx="9189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precisam planejar e organizar visitas presenciais às agências sob sua responsabilidade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670048"/>
            <a:ext cx="10881360" cy="0"/>
          </a:xfrm>
          <a:prstGeom prst="line">
            <a:avLst/>
          </a:prstGeom>
          <a:noFill/>
          <a:ln w="12700">
            <a:solidFill>
              <a:srgbClr val="D9E0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163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2788920"/>
            <a:ext cx="9189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Roteirização de Visitas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10881360" cy="0"/>
          </a:xfrm>
          <a:prstGeom prst="line">
            <a:avLst/>
          </a:prstGeom>
          <a:noFill/>
          <a:ln w="12700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43814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331720" y="3410712"/>
            <a:ext cx="9189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ferramenta de apoio à decisão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913632"/>
            <a:ext cx="10881360" cy="0"/>
          </a:xfrm>
          <a:prstGeom prst="line">
            <a:avLst/>
          </a:prstGeom>
          <a:noFill/>
          <a:ln w="12700">
            <a:solidFill>
              <a:srgbClr val="D9E0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05993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331720" y="4032504"/>
            <a:ext cx="9189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 uma sequência de visitas e os meios de transporte mais adequados, considerando tempo, distância, custo e restrições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535424"/>
            <a:ext cx="10881360" cy="0"/>
          </a:xfrm>
          <a:prstGeom prst="line">
            <a:avLst/>
          </a:prstGeom>
          <a:noFill/>
          <a:ln w="12700">
            <a:solidFill>
              <a:srgbClr val="D9E0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68172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331720" y="4654296"/>
            <a:ext cx="9189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 e planejamento manual baseados em estimativas e informações dispersas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157216"/>
            <a:ext cx="10881360" cy="0"/>
          </a:xfrm>
          <a:prstGeom prst="line">
            <a:avLst/>
          </a:prstGeom>
          <a:noFill/>
          <a:ln w="12700">
            <a:solidFill>
              <a:srgbClr val="D9E0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53035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PRODUTO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331720" y="5276088"/>
            <a:ext cx="9189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 as informações relevantes e apresenta cenários de roteirização de forma padronizada, permitindo comparar alternativas de menor custo e menor tempo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Personas discutidas no workshop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candidatas levantadas em brainstorming; uma selecionada como persona central do MVP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50292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673352"/>
            <a:ext cx="2940473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891449" y="1673352"/>
            <a:ext cx="13284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02749" y="1673352"/>
            <a:ext cx="6063827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da decisão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0881360" cy="502920"/>
          </a:xfrm>
          <a:prstGeom prst="rect">
            <a:avLst/>
          </a:prstGeom>
          <a:solidFill>
            <a:srgbClr val="F4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" y="2167128"/>
            <a:ext cx="294047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Rafael, Gerente Regional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891449" y="2167128"/>
            <a:ext cx="13284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Selecionada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02749" y="2167128"/>
            <a:ext cx="606382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quem efetivamente planeja o roteiro e sofre a dor central que o produto resolve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06040"/>
            <a:ext cx="10881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" y="2670048"/>
            <a:ext cx="294047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Agência local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891449" y="2670048"/>
            <a:ext cx="13284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02749" y="2670048"/>
            <a:ext cx="606382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receptor da visita, não planeja a rota nem interage com a roteirização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10881360" cy="502920"/>
          </a:xfrm>
          <a:prstGeom prst="rect">
            <a:avLst/>
          </a:prstGeom>
          <a:solidFill>
            <a:srgbClr val="F4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" y="3172968"/>
            <a:ext cx="294047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 de Operações e Logística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891449" y="3172968"/>
            <a:ext cx="13284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02749" y="3172968"/>
            <a:ext cx="606382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 em nível estratégico; não opera o dia a dia do planejamento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10881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" y="3675888"/>
            <a:ext cx="294047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Compliance e Auditoria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891449" y="3675888"/>
            <a:ext cx="13284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02749" y="3675888"/>
            <a:ext cx="606382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Consumiria relatórios da ferramenta, mas não é o usuário principal do MVP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114800"/>
            <a:ext cx="10881360" cy="502920"/>
          </a:xfrm>
          <a:prstGeom prst="rect">
            <a:avLst/>
          </a:prstGeom>
          <a:solidFill>
            <a:srgbClr val="F4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096" y="4178808"/>
            <a:ext cx="294047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Motorista ou transporte terceirizado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891449" y="4178808"/>
            <a:ext cx="13284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Descartada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02749" y="4178808"/>
            <a:ext cx="606382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na execução da viagem, fora do escopo de planejamento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617720"/>
            <a:ext cx="10881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" y="4681728"/>
            <a:ext cx="294047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Suprimentos e Reembolsos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891449" y="4681728"/>
            <a:ext cx="13284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Descartada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02749" y="4681728"/>
            <a:ext cx="606382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 de reembolso e aprovação, processo posterior e fora do piloto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5285232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32688" y="5431536"/>
            <a:ext cx="10296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cinco personas foi decisão de escopo, não de desinteresse: cada uma delas volta como usuário em ondas posteriores.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 central: Rafael, gerente regional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telas do protótipo foram desenhadas a partir do dia dele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0" cy="4434840"/>
          </a:xfrm>
          <a:prstGeom prst="roundRect">
            <a:avLst>
              <a:gd name="adj" fmla="val 1237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1920240"/>
            <a:ext cx="914400" cy="91440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4128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121408" y="20848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Rafael Menezes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121408" y="2487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regional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1546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3410712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por um conjunto de agências. Organiza ciclos de visitas presenciais considerando origem, período, agenda, prioridades e regras de viagem.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40233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 atual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279392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planejamento exige comparação manual de agências, deslocamentos, custos, tempos e alternativas de transporte.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48920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5148072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Obter rapidamente um cronograma viável e uma rota de boa qualidade, reduzindo esforço, tempo e custo de deslocamento.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62763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persona virou interface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2057400"/>
            <a:ext cx="5257800" cy="804672"/>
          </a:xfrm>
          <a:prstGeom prst="roundRect">
            <a:avLst>
              <a:gd name="adj" fmla="val 5682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21579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por um conjunto de agências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4231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seletor de regional no topo define o recorte de tudo o que ele vê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971800"/>
            <a:ext cx="5257800" cy="804672"/>
          </a:xfrm>
          <a:prstGeom prst="roundRect">
            <a:avLst>
              <a:gd name="adj" fmla="val 5682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30723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 e periodicidade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3375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abre com o que vence em 30 dias e o que já está em atraso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3886200"/>
            <a:ext cx="5257800" cy="804672"/>
          </a:xfrm>
          <a:prstGeom prst="roundRect">
            <a:avLst>
              <a:gd name="adj" fmla="val 5682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39867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viagem e agenda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42519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visita, teto diário, limite de dias e pernoite são campos da etapa 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4800600"/>
            <a:ext cx="5257800" cy="804672"/>
          </a:xfrm>
          <a:prstGeom prst="roundRect">
            <a:avLst>
              <a:gd name="adj" fmla="val 5682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49011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manual de alternativas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51663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modais aparecem lado a lado, com a escolha justificada em cada trecho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seis jornadas atendidas pelo MVP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Definidas no Canvas MVP e implementadas integralmente no protótipo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75104"/>
            <a:ext cx="438912" cy="438912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2996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2024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as agências que precisam ser visitadas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1975104"/>
            <a:ext cx="438912" cy="438912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202996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192024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 origem, período e restrições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300984"/>
            <a:ext cx="438912" cy="438912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35584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24612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 prioridade entre menor custo e menor tempo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297180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3300984"/>
            <a:ext cx="438912" cy="438912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0" y="335584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78040" y="324612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Receber a sequência recomendada de visitas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626864"/>
            <a:ext cx="438912" cy="438912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468172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457200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modal, distância, tempo e custo por trecho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429768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4626864"/>
            <a:ext cx="438912" cy="438912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3680" y="468172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57200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o resumo e comparar com um cenário de referência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806440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2688" y="5952744"/>
            <a:ext cx="10296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seis estão navegáveis no protótipo: nenhuma jornada do Canvas ficou como promessa.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workshop de ideação em números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definir o MVP, o grupo levantou e avaliou alternativas de personas e funcionalidades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14600" cy="1783080"/>
          </a:xfrm>
          <a:prstGeom prst="roundRect">
            <a:avLst>
              <a:gd name="adj" fmla="val 3077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10512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C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59152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candidatas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633472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selecionada, 5 descartadas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645920"/>
            <a:ext cx="2514600" cy="1783080"/>
          </a:xfrm>
          <a:prstGeom prst="roundRect">
            <a:avLst>
              <a:gd name="adj" fmla="val 3077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84448" y="1810512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359152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ideias de produto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2633472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discutidas no brainstorming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645920"/>
            <a:ext cx="2514600" cy="1783080"/>
          </a:xfrm>
          <a:prstGeom prst="roundRect">
            <a:avLst>
              <a:gd name="adj" fmla="val 3077"/>
            </a:avLst>
          </a:prstGeom>
          <a:solidFill>
            <a:srgbClr val="E4F1ED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81928" y="1810512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281928" y="2359152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priorizadas na Onda 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81928" y="2633472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MVP propriamente dito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78240" y="1645920"/>
            <a:ext cx="2743200" cy="1783080"/>
          </a:xfrm>
          <a:prstGeom prst="roundRect">
            <a:avLst>
              <a:gd name="adj" fmla="val 3077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79408" y="181051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979408" y="235915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adiadas ou descartadas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979408" y="2633472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na Onda 2 e 8 fora de escopo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" y="3803904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descartar importa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133088"/>
            <a:ext cx="488289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uma das 8 ideias descartadas tem motivo registrado: aumento de escopo antes de validar a hipótese, dependência de API paga, ou pertencer a outro sistema. Um MVP se define tanto pelo que fica de fora quanto pelo que entra.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3657600"/>
            <a:ext cx="5120640" cy="1965960"/>
          </a:xfrm>
          <a:prstGeom prst="roundRect">
            <a:avLst>
              <a:gd name="adj" fmla="val 2791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56832" y="3803904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Proporção que sobrou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656832" y="4133088"/>
            <a:ext cx="460857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20 ideias, 8 entraram no MVP — 40%. É uma taxa de corte saudável: alta o suficiente para manter o piloto enxuto, e baixa o suficiente para o produto ainda responder à jornada completa do gerente.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Ondas de funcionalidades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oito da Onda 1 formam o MVP; as demais foram adiadas ou descartadas com justificativa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1 — no MVP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01952"/>
            <a:ext cx="5394960" cy="3063240"/>
          </a:xfrm>
          <a:prstGeom prst="roundRect">
            <a:avLst>
              <a:gd name="adj" fmla="val 1791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0312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as agências a visitar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 origem, período e restrições de agenda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objetivo: custo, tempo ou combinação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a sequência recomendada de visitas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Recomendar o modal por trecho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Exibir distância, tempo e custo por trecho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Exibir totais e economia estimada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com um cenário de referência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5727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2 — evolução futura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901952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20574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 de viagens e análises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automática de preços e rotas via API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gerencial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Reotimização dinâmica dos cronogramas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34015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3730752"/>
            <a:ext cx="51206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3913632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de dúvidas, gamificação entre gerentes, integração com Uber e 99, aplicativo mobile nativo, aprovação de despesas em ERP, recomendação de hotel, simulação de clima e cobertura irrestrita de todas as agências.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5138928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" y="5285232"/>
            <a:ext cx="10296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oito da Onda 1, oito estão implementadas e navegáveis no protótipo entregue.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 MVP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acordo do que seria construído, validado e medido no piloto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1298448"/>
          </a:xfrm>
          <a:prstGeom prst="roundRect">
            <a:avLst>
              <a:gd name="adj" fmla="val 4225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28216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segmentada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020824"/>
            <a:ext cx="4882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regional responsável pelo planejamento e acompanhamento das visitas às agências sob sua responsabilidade.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394960" cy="1298448"/>
          </a:xfrm>
          <a:prstGeom prst="roundRect">
            <a:avLst>
              <a:gd name="adj" fmla="val 4225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65392" y="1728216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65392" y="2020824"/>
            <a:ext cx="4882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se uma recomendação automatizada de roteiro ajuda o gerente a planejar com menor esforço, custo e tempo, mantendo restrições e periodicidade.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5394960" cy="1298448"/>
          </a:xfrm>
          <a:prstGeom prst="roundRect">
            <a:avLst>
              <a:gd name="adj" fmla="val 4225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3209544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3502152"/>
            <a:ext cx="4882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agências, origem, período e restrições, objetivo de otimização, sequência recomendada, modal por trecho, custos e totais, comparação com referência e registro do roteiro.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3081528"/>
            <a:ext cx="5394960" cy="1298448"/>
          </a:xfrm>
          <a:prstGeom prst="roundRect">
            <a:avLst>
              <a:gd name="adj" fmla="val 4225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65392" y="3209544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validação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3502152"/>
            <a:ext cx="4882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custo e de tempo por ciclo, percentual de visitas dentro da periodicidade (meta 90%), adoção no piloto (meta 80%) e economia sobre a referência.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562856"/>
            <a:ext cx="10881360" cy="1298448"/>
          </a:xfrm>
          <a:prstGeom prst="roundRect">
            <a:avLst>
              <a:gd name="adj" fmla="val 4225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4690872"/>
            <a:ext cx="10369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 cronograma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4983480"/>
            <a:ext cx="10369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web interativo para piloto controlado, em 1 a 2 sprints, usando os dados já disponíveis e complementando apenas o essencial: coordenadas, gerente responsável e periodicidade.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CRISP-DM — Entendimento do negócio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negócio e decisões que o projeto pretende melhorar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46504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negócio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075688"/>
            <a:ext cx="103692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 os gerentes regionais na definição do cronograma de visitas presenciais, recomendando a melhor sequência e os meios de transporte, para reduzir custos logísticos e tempo de deslocamento, e aumentar a padronização e o cumprimento da periodicidade prevista.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e processos que o sistema melhora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401568"/>
            <a:ext cx="3429000" cy="96012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5478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das agências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8221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definida por critério, não por intuição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3401568"/>
            <a:ext cx="3429000" cy="96012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35478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 visitas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8221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em dias respeitando a agenda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3401568"/>
            <a:ext cx="3429000" cy="96012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35478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 de transporte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8221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comparado trecho a trecho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544568"/>
            <a:ext cx="3429000" cy="96012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6908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 da viagem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9651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 antes de viajar, não depois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4544568"/>
            <a:ext cx="3429000" cy="96012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46908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de custo e tempo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9651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explícita entre alternativas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0" y="4544568"/>
            <a:ext cx="3429000" cy="96012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75320" y="46908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de agências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49651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e prioridade guiando a seleção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CRISP-DM — Objetivo de mineração de dados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solução analítica precisa ser capaz de fazer, e o status de cada item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530352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673352"/>
            <a:ext cx="561007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analítica definida no Canvas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61050" y="1673352"/>
            <a:ext cx="13045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048430" y="1673352"/>
            <a:ext cx="34181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está no protótipo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130552"/>
            <a:ext cx="10881360" cy="530352"/>
          </a:xfrm>
          <a:prstGeom prst="rect">
            <a:avLst/>
          </a:prstGeom>
          <a:solidFill>
            <a:srgbClr val="F4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" y="2194560"/>
            <a:ext cx="5610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distância, tempo e custo entre origem e destino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561050" y="2194560"/>
            <a:ext cx="130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048430" y="2194560"/>
            <a:ext cx="34181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mais modelo calibrado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660904"/>
            <a:ext cx="108813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" y="2724912"/>
            <a:ext cx="5610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carro, ônibus e avião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561050" y="2724912"/>
            <a:ext cx="130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048430" y="2724912"/>
            <a:ext cx="34181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modais por trecho, com justificativa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191256"/>
            <a:ext cx="10881360" cy="530352"/>
          </a:xfrm>
          <a:prstGeom prst="rect">
            <a:avLst/>
          </a:prstGeom>
          <a:solidFill>
            <a:srgbClr val="F4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" y="3255264"/>
            <a:ext cx="5610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matriz origem-destino com distância, tempo e custo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561050" y="3255264"/>
            <a:ext cx="130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048430" y="3255264"/>
            <a:ext cx="34181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Calculada sob demanda para a seleção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721608"/>
            <a:ext cx="108813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" y="3785616"/>
            <a:ext cx="5610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Determinar sequência otimizada de visitas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61050" y="3785616"/>
            <a:ext cx="130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Provisório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048430" y="3785616"/>
            <a:ext cx="34181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 geográfica; TSP na próxima fase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251960"/>
            <a:ext cx="10881360" cy="530352"/>
          </a:xfrm>
          <a:prstGeom prst="rect">
            <a:avLst/>
          </a:prstGeom>
          <a:solidFill>
            <a:srgbClr val="F4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096" y="4315968"/>
            <a:ext cx="5610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Considerar datas, horários, prioridades e limite de dias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561050" y="4315968"/>
            <a:ext cx="130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048430" y="4315968"/>
            <a:ext cx="34181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de restrições, com trava de viabilidade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782312"/>
            <a:ext cx="108813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" y="4846320"/>
            <a:ext cx="5610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objetivos de otimização diferentes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561050" y="4846320"/>
            <a:ext cx="130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048430" y="4846320"/>
            <a:ext cx="34181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Custo, tempo ou peso ajustável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440680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32688" y="5586984"/>
            <a:ext cx="10296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das seis capacidades estão implementadas. A sexta — a otimização combinatória — foi conscientemente adiada, e o código já reserva o lugar dela.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 mapeados e o que aconteceu na prática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riscos foram previstos no Canvas; três se materializaram durante a construção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566928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645920"/>
            <a:ext cx="341814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previsto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369122" y="1645920"/>
            <a:ext cx="9130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65086" y="1645920"/>
            <a:ext cx="24787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 planejada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126714" y="1645920"/>
            <a:ext cx="33398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 fato ocorreu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39696"/>
            <a:ext cx="10881360" cy="566928"/>
          </a:xfrm>
          <a:prstGeom prst="rect">
            <a:avLst/>
          </a:prstGeom>
          <a:solidFill>
            <a:srgbClr val="F4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" y="2203704"/>
            <a:ext cx="3418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latitude e longitude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369122" y="2203704"/>
            <a:ext cx="913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65086" y="2203704"/>
            <a:ext cx="24787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Geocodificar antes da roteirização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126714" y="2203704"/>
            <a:ext cx="3339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Confirmado. Resolvido por código IBGE e refino por bairro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706624"/>
            <a:ext cx="10881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" y="2770632"/>
            <a:ext cx="3418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Endereços inconsistentes na base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369122" y="2770632"/>
            <a:ext cx="913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65086" y="2770632"/>
            <a:ext cx="24787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e limpeza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126714" y="2770632"/>
            <a:ext cx="3339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Confirmado. Abreviações do Bacen exigiram normalização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273552"/>
            <a:ext cx="10881360" cy="566928"/>
          </a:xfrm>
          <a:prstGeom prst="rect">
            <a:avLst/>
          </a:prstGeom>
          <a:solidFill>
            <a:srgbClr val="F4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" y="3337560"/>
            <a:ext cx="3418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 de ônibus e avião instáveis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369122" y="3337560"/>
            <a:ext cx="913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465086" y="3337560"/>
            <a:ext cx="24787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quando possível, médias como alternativa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126714" y="3337560"/>
            <a:ext cx="3339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Usadas curvas calibradas com ANTT e ANAC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840480"/>
            <a:ext cx="10881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096" y="3904488"/>
            <a:ext cx="3418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de combustíveis desatualizada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369122" y="3904488"/>
            <a:ext cx="913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465086" y="3904488"/>
            <a:ext cx="24787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atualizada ou correção inflacionária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126714" y="3904488"/>
            <a:ext cx="3339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 de preço explícito e ajustável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407408"/>
            <a:ext cx="10881360" cy="566928"/>
          </a:xfrm>
          <a:prstGeom prst="rect">
            <a:avLst/>
          </a:prstGeom>
          <a:solidFill>
            <a:srgbClr val="F4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8096" y="4471416"/>
            <a:ext cx="3418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computacional com muitas agências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369122" y="4471416"/>
            <a:ext cx="913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465086" y="4471416"/>
            <a:ext cx="24787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 e escopo limitado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126714" y="4471416"/>
            <a:ext cx="3339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Regionais com teto de 40 agências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974336"/>
            <a:ext cx="10881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8096" y="5038344"/>
            <a:ext cx="3418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dados de responsável e periodicidade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369122" y="5038344"/>
            <a:ext cx="913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465086" y="5038344"/>
            <a:ext cx="24787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com a área de negócio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126714" y="5038344"/>
            <a:ext cx="3339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Simulados no protótipo e declarados como tal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5669280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32688" y="5815584"/>
            <a:ext cx="10296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risco foi descoberto durante a obra: os que apareceram já estavam na tabela, o que valida o mapeamento inicial.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dos dados: o que a exploração encontrou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identificados nas planilhas e o tratamento aplicado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54864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645920"/>
            <a:ext cx="420097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encontrado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151953" y="1645920"/>
            <a:ext cx="9130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247918" y="1645920"/>
            <a:ext cx="52186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aplicado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121408"/>
            <a:ext cx="10881360" cy="548640"/>
          </a:xfrm>
          <a:prstGeom prst="rect">
            <a:avLst/>
          </a:prstGeom>
          <a:solidFill>
            <a:srgbClr val="F4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" y="2185416"/>
            <a:ext cx="42009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total de coordenadas na base de agências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151953" y="2185416"/>
            <a:ext cx="9130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247918" y="2185416"/>
            <a:ext cx="52186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 pelo código IBGE, com refino por bairro e validação de desvio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670048"/>
            <a:ext cx="10881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" y="2734056"/>
            <a:ext cx="42009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de precisão numérica nos preços de revenda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151953" y="2734056"/>
            <a:ext cx="9130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247918" y="2734056"/>
            <a:ext cx="52186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de tipo antes de qualquer cálculo de custo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218688"/>
            <a:ext cx="10881360" cy="548640"/>
          </a:xfrm>
          <a:prstGeom prst="rect">
            <a:avLst/>
          </a:prstGeom>
          <a:solidFill>
            <a:srgbClr val="F4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" y="3282696"/>
            <a:ext cx="42009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da ANP encerra em maio de 2021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151953" y="3282696"/>
            <a:ext cx="9130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247918" y="3282696"/>
            <a:ext cx="52186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vira parâmetro explícito, com data-base declarada na interface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767328"/>
            <a:ext cx="10881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" y="3831336"/>
            <a:ext cx="42009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648 agências com data de início anterior a 1950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151953" y="3831336"/>
            <a:ext cx="9130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47918" y="3831336"/>
            <a:ext cx="52186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não utilizada no cálculo; tratada como erro de cadastro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315968"/>
            <a:ext cx="10881360" cy="548640"/>
          </a:xfrm>
          <a:prstGeom prst="rect">
            <a:avLst/>
          </a:prstGeom>
          <a:solidFill>
            <a:srgbClr val="F4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096" y="4379976"/>
            <a:ext cx="42009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3.400 ausências em preço de distribuição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151953" y="4379976"/>
            <a:ext cx="9130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247918" y="4379976"/>
            <a:ext cx="52186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do preço de revenda como referência principal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864608"/>
            <a:ext cx="10881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" y="4928616"/>
            <a:ext cx="42009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Grafias divergentes no campo produto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151953" y="4928616"/>
            <a:ext cx="9130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247918" y="4928616"/>
            <a:ext cx="52186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de texto na preparação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413248"/>
            <a:ext cx="10881360" cy="548640"/>
          </a:xfrm>
          <a:prstGeom prst="rect">
            <a:avLst/>
          </a:prstGeom>
          <a:solidFill>
            <a:srgbClr val="F4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8096" y="5477256"/>
            <a:ext cx="42009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chave direta entre as duas bases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151953" y="5477256"/>
            <a:ext cx="9130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247918" y="5477256"/>
            <a:ext cx="52186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 por UF, com nomes padronizados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 de sucesso de negócio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será bem-sucedido se demonstrar redução mensurável de esforço e custo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585216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673352"/>
            <a:ext cx="4827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778219" y="1673352"/>
            <a:ext cx="21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proposta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126714" y="1673352"/>
            <a:ext cx="3339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protótipo já mede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85416"/>
            <a:ext cx="10881360" cy="585216"/>
          </a:xfrm>
          <a:prstGeom prst="rect">
            <a:avLst/>
          </a:prstGeom>
          <a:solidFill>
            <a:srgbClr val="F4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" y="2249424"/>
            <a:ext cx="48272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do custo médio por ciclo de visitas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778219" y="2249424"/>
            <a:ext cx="21656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definir após linha de base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126714" y="2249424"/>
            <a:ext cx="33398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com cenário de referência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108813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" y="2834640"/>
            <a:ext cx="48272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do tempo total de deslocamento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78219" y="2834640"/>
            <a:ext cx="21656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definir após linha de base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126714" y="2834640"/>
            <a:ext cx="33398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total por rota e por trecho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355848"/>
            <a:ext cx="10881360" cy="585216"/>
          </a:xfrm>
          <a:prstGeom prst="rect">
            <a:avLst/>
          </a:prstGeom>
          <a:solidFill>
            <a:srgbClr val="F4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" y="3419856"/>
            <a:ext cx="48272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Cumprimento da periodicidade das visitas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778219" y="3419856"/>
            <a:ext cx="21656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 dentro do prazo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126714" y="3419856"/>
            <a:ext cx="33398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prazos vencidos e a vencer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941064"/>
            <a:ext cx="108813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" y="4005072"/>
            <a:ext cx="48272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da ferramenta no piloto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778219" y="4005072"/>
            <a:ext cx="21656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 dos gerentes por mês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126714" y="4005072"/>
            <a:ext cx="33398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do piloto, fora do protótipo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526280"/>
            <a:ext cx="10881360" cy="585216"/>
          </a:xfrm>
          <a:prstGeom prst="rect">
            <a:avLst/>
          </a:prstGeom>
          <a:solidFill>
            <a:srgbClr val="F4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096" y="4590288"/>
            <a:ext cx="48272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estimada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778219" y="4590288"/>
            <a:ext cx="21656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entre atual e otimizado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126714" y="4590288"/>
            <a:ext cx="33398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destacado na tela de resultado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230368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FBF0DF"/>
          </a:solidFill>
          <a:ln w="12700">
            <a:solidFill>
              <a:srgbClr val="EBD9B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96112" y="5376672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linha de base ainda não existe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96112" y="5705856"/>
            <a:ext cx="103692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metas dependem de medir o planejamento manual atual antes de comparar. O protótipo resolve isso parcialmente com o cenário de referência, que reconstrói o que aconteceria sem o sistema usando as mesmas agências e o mesmo modelo de custo — mas uma linha de base real, com viagens efetivamente realizadas, continua sendo pré-requisito do piloto.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Engenharia de Software e versionamento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repositório e artefatos de código entregues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852160" cy="621792"/>
          </a:xfrm>
          <a:prstGeom prst="roundRect">
            <a:avLst>
              <a:gd name="adj" fmla="val 7353"/>
            </a:avLst>
          </a:prstGeom>
          <a:solidFill>
            <a:srgbClr val="FBF0DF"/>
          </a:solidFill>
          <a:ln w="12700">
            <a:solidFill>
              <a:srgbClr val="EBD9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01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GitHub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do grupo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5852160" cy="621792"/>
          </a:xfrm>
          <a:prstGeom prst="roundRect">
            <a:avLst>
              <a:gd name="adj" fmla="val 7353"/>
            </a:avLst>
          </a:prstGeom>
          <a:solidFill>
            <a:srgbClr val="FBF0DF"/>
          </a:solidFill>
          <a:ln w="12700">
            <a:solidFill>
              <a:srgbClr val="EBD9B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5511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do projeto e integrantes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127248"/>
            <a:ext cx="5852160" cy="621792"/>
          </a:xfrm>
          <a:prstGeom prst="roundRect">
            <a:avLst>
              <a:gd name="adj" fmla="val 735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3009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3310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openpyxl, scikit-learn, shapely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877056"/>
            <a:ext cx="5852160" cy="621792"/>
          </a:xfrm>
          <a:prstGeom prst="roundRect">
            <a:avLst>
              <a:gd name="adj" fmla="val 7353"/>
            </a:avLst>
          </a:prstGeom>
          <a:solidFill>
            <a:srgbClr val="FBF0DF"/>
          </a:solidFill>
          <a:ln w="12700">
            <a:solidFill>
              <a:srgbClr val="EBD9B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050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commits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4059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de dois commits descritivos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6276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Artefatos de código produzidos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0299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preparar_agencias.py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267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enriquecimento e validação das coordenadas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5603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definir_regionais.py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27980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com teto e piso de capacidade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30906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gerar_dados.py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3284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 do pacote de dados do produto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36210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decisao_transporte.py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3858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custo e tempo por modal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41513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motor.js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4389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 do modelo para o navegador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4681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roteirizacao-visitas.html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49194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navegável, autocontido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5440680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2688" y="5586984"/>
            <a:ext cx="10296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itens em âmbar dependem do repositório do grupo e precisam ser preenchidos antes de consolidar a entrega.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gerente regional precisa visitar dezenas de agências espalhadas por vários municípios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943600" cy="896112"/>
          </a:xfrm>
          <a:prstGeom prst="roundRect">
            <a:avLst>
              <a:gd name="adj" fmla="val 5102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10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manual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das visitas sai da intuição ou de uma planilha, sem comparar alternativas.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752344"/>
            <a:ext cx="5943600" cy="896112"/>
          </a:xfrm>
          <a:prstGeom prst="roundRect">
            <a:avLst>
              <a:gd name="adj" fmla="val 5102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8712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escolhido por hábito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6382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 por padrão, mesmo em trechos onde ônibus ou avião sairiam melhor.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813048"/>
            <a:ext cx="5943600" cy="896112"/>
          </a:xfrm>
          <a:prstGeom prst="roundRect">
            <a:avLst>
              <a:gd name="adj" fmla="val 5102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descoberto depois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2245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Combustível, pedágio, passagem e diária só aparecem na prestação de contas.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873752"/>
            <a:ext cx="5943600" cy="896112"/>
          </a:xfrm>
          <a:prstGeom prst="roundRect">
            <a:avLst>
              <a:gd name="adj" fmla="val 5102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992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perdido de vista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28523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Agências com visita vencida se misturam às demais, sem priorização.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78040" y="1691640"/>
            <a:ext cx="4343400" cy="2011680"/>
          </a:xfrm>
          <a:prstGeom prst="roundRect">
            <a:avLst>
              <a:gd name="adj" fmla="val 2727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79208" y="1856232"/>
            <a:ext cx="3941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C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R$ 177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379208" y="2404872"/>
            <a:ext cx="3941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diferença num único trecho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79208" y="2679192"/>
            <a:ext cx="3941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 km de carro custam R$ 347 e levam 7h. De ônibus, R$ 170 e 9h. De avião, R$ 370 e 4h. Três respostas certas para perguntas diferentes.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397764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que o sistema responde: quais agências visitar, em que ordem, em que datas e por qual meio de transporte.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 desta entrega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é validar interface, fluxo e experiência do MVP — não o algoritmo de otimização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4023360"/>
          </a:xfrm>
          <a:prstGeom prst="roundRect">
            <a:avLst>
              <a:gd name="adj" fmla="val 1364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105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 e funcionando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de 2.040 agências com coordenadas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Regionais definidas por agrupamento geográfico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real de custo, tempo e distância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dos três modais por trecho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completa: painel, seleção, restrições, objetivo, resultado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 rota e comparação de cenários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1600200"/>
            <a:ext cx="5303520" cy="4023360"/>
          </a:xfrm>
          <a:prstGeom prst="roundRect">
            <a:avLst>
              <a:gd name="adj" fmla="val 1364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0" y="18105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escopo, por decisão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24028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roteirização (TSP, VRP, 2-opt)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de mapas, combustível, ônibus e voos em tempo real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e persistência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 autenticação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 com sistemas do banco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fronteira entre as duas colunas está marcada no próprio código, para a troca ser direta.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modelos do projeto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de aprendizado de máquina e um estatístico — cada um responde a uma pergunta diferente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3794760"/>
          </a:xfrm>
          <a:prstGeom prst="roundRect">
            <a:avLst>
              <a:gd name="adj" fmla="val 1446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10512"/>
            <a:ext cx="2606040" cy="310896"/>
          </a:xfrm>
          <a:prstGeom prst="roundRect">
            <a:avLst>
              <a:gd name="adj" fmla="val 11765"/>
            </a:avLst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8562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2402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700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quais regionais pertencem as agências?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154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2.040 pares de latitude e longitude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5570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35570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agrupamentos, nomeados pela cidade-polo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9593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39593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com subdivisão recursiva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3616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194560" y="4361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de 40 e piso de 4 agências, aplicados depois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892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regra geográfica foi escrita à mão: os polos emergem dos dados.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600200"/>
            <a:ext cx="5303520" cy="3794760"/>
          </a:xfrm>
          <a:prstGeom prst="roundRect">
            <a:avLst>
              <a:gd name="adj" fmla="val 1446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1810512"/>
            <a:ext cx="2606040" cy="310896"/>
          </a:xfrm>
          <a:prstGeom prst="roundRect">
            <a:avLst>
              <a:gd name="adj" fmla="val 11765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18562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NÃO LINEAR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22402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 de curva de potência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26700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custa e quanto demora cada trecho?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3154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= a + b × distância^c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35570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955280" y="35570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faixas tarifárias reais da ANTT e da ANAC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39593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39593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entre dois pontos, por haversine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43616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955280" y="4361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 tempo dos três modais, e a recomendação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4892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ajustados sobre dados oficiais, não arbitrados.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modelo generativo é usado pelo sistema: o protótipo funciona offline, sem chamar serviço de IA.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bases de dados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fontes públicas, nenhum dado inventado na camada cadastral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29000" cy="3291840"/>
          </a:xfrm>
          <a:prstGeom prst="roundRect">
            <a:avLst>
              <a:gd name="adj" fmla="val 1667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74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16.552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4505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Agências — Banco Central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999232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agências em funcionamento no país, posição de novembro de 2024. Traz CNPJ, código COMPE, endereço, bairro, CEP, município e código IBGE.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429000" cy="3291840"/>
          </a:xfrm>
          <a:prstGeom prst="roundRect">
            <a:avLst>
              <a:gd name="adj" fmla="val 1667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9432" y="1874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120.824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4505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Combustíveis — ANP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999232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semanais de preço por estado, de 2004 a 2021. Gasolina, etanol, diesel, GLP e GNV.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429000" cy="3291840"/>
          </a:xfrm>
          <a:prstGeom prst="roundRect">
            <a:avLst>
              <a:gd name="adj" fmla="val 1667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02752" y="1874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2.628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8302752" y="24505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— base consolidada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2999232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de cidades com distância, tempo e preço estimados para ônibus e avião, mais 73 aeroportos com coordenadas.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5166360"/>
            <a:ext cx="10881360" cy="868680"/>
          </a:xfrm>
          <a:prstGeom prst="roundRect">
            <a:avLst>
              <a:gd name="adj" fmla="val 5263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3492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adotado: Itaú Unibanco — 2.040 agências, 27 estados, 976 municípios. É a instituição que dá volume suficiente para o problema existir sem tornar a base intratável.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obstáculo: a base não tem coordenadas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Central publica endereço e CEP, mas nenhuma latitude ou longitude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1226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2788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673352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 pelo código IBGE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947672"/>
            <a:ext cx="5102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já traz o código do município. Cruzando com o cadastro público de municípios, 99,99% das agências ganharam coordenada — falharam 2 em 16.552.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84048" cy="384048"/>
          </a:xfrm>
          <a:prstGeom prst="ellipse">
            <a:avLst/>
          </a:prstGeom>
          <a:solidFill>
            <a:srgbClr val="1226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84348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724912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 precisão é do município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999232"/>
            <a:ext cx="5102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agências de uma mesma cidade caem no mesmo ponto. Em São Paulo, 253 agências compartilhavam uma única coordenada.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384048" cy="384048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35908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776472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Refino por bairro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4050792"/>
            <a:ext cx="5102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Cruzando município e bairro com uma base pública de 36.982 bairros, e normalizando as abreviações do Bacen, a precisão subiu um nível.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0" y="1691640"/>
            <a:ext cx="2240280" cy="1600200"/>
          </a:xfrm>
          <a:prstGeom prst="roundRect">
            <a:avLst>
              <a:gd name="adj" fmla="val 3429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59168" y="1856232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059168" y="2404872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no mapa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059168" y="2679192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capital, antes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281160" y="1691640"/>
            <a:ext cx="2240280" cy="1600200"/>
          </a:xfrm>
          <a:prstGeom prst="roundRect">
            <a:avLst>
              <a:gd name="adj" fmla="val 3429"/>
            </a:avLst>
          </a:prstGeom>
          <a:solidFill>
            <a:srgbClr val="E4F1ED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82328" y="1856232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9482328" y="2404872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no mapa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482328" y="2679192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capital, depois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0" y="3520440"/>
            <a:ext cx="4663440" cy="2331720"/>
          </a:xfrm>
          <a:prstGeom prst="roundRect">
            <a:avLst>
              <a:gd name="adj" fmla="val 235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59168" y="3685032"/>
            <a:ext cx="4261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87,5%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4233672"/>
            <a:ext cx="4261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coordenada de bairro em São Paulo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4507992"/>
            <a:ext cx="4261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12,5% restantes usam o centro do município e aparecem marcados na interface como localização aproximada. Para roteirização entre cidades a diferença é irrelevante; para desenhar o mapa da capital, muda tudo.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de rua exigiria geocodificação por API paga; ficou registrada como evolução futura.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Segundo obstáculo: dado público vem sujo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de bairros tinha colisão de nomes, e o erro só apareceu quando o mapa ficou estranho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675120" cy="1874520"/>
          </a:xfrm>
          <a:prstGeom prst="roundRect">
            <a:avLst>
              <a:gd name="adj" fmla="val 2927"/>
            </a:avLst>
          </a:prstGeom>
          <a:solidFill>
            <a:srgbClr val="FBECEA"/>
          </a:solidFill>
          <a:ln w="12700">
            <a:solidFill>
              <a:srgbClr val="EFC9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sintoma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12848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Agrupando as agências por proximidade, várias regionais claramente do interior apareciam com São Paulo como cidade principal. Geograficamente impossível.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6675120" cy="1920240"/>
          </a:xfrm>
          <a:prstGeom prst="roundRect">
            <a:avLst>
              <a:gd name="adj" fmla="val 2857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93192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causa e a correção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279392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bairro Mirandópolis, na capital, recebeu as coordenadas da cidade de Mirandópolis, a 530 km. Vila Regente Feijó pegou as da cidade de Regente Feijó. A correção foi descartar qualquer bairro a mais de 30 km do centro do seu município e cair para o município.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1691640"/>
            <a:ext cx="3703320" cy="1874520"/>
          </a:xfrm>
          <a:prstGeom prst="roundRect">
            <a:avLst>
              <a:gd name="adj" fmla="val 2927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19288" y="1856232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530 km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019288" y="2404872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desvio no pior caso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019288" y="2679192"/>
            <a:ext cx="3300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Metade das agências estava a menos de 3,6 km do centro do município. O erro era minoritário, mas contaminava o agrupamento.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18120" y="3749040"/>
            <a:ext cx="3703320" cy="1920240"/>
          </a:xfrm>
          <a:prstGeom prst="roundRect">
            <a:avLst>
              <a:gd name="adj" fmla="val 2857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19288" y="3913632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C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019288" y="4462272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descartadas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019288" y="4736592"/>
            <a:ext cx="3300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contra o centróide do próprio município é uma checagem barata que impede o erro de se propagar para o mapa e para as regionais.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1 — K-means na formação das regionais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agrupa por proximidade; uma regra de capacidade garante que a regional caiba numa agenda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1226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87068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627632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 por k-means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90195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agências são agrupadas pelas coordenadas, sem nenhuma regra geográfica escrita à mão. As cidades-polo emergem sozinhas.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384048" cy="384048"/>
          </a:xfrm>
          <a:prstGeom prst="ellipse">
            <a:avLst/>
          </a:prstGeom>
          <a:solidFill>
            <a:srgbClr val="1226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38628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679192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de 40 agências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95351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acima do teto são subdivididos recursivamente. O k-means sozinho não sabe quantas visitas cabem num mês.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384048" cy="384048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790188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730752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de 4 agências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400507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pequenos demais são absorvidos pela regional vizinha mais próxima que ainda tenha espaço.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384048" cy="384048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841748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782312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herdado da cidade-polo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505663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polo repete, o desempate usa a segunda cidade ou o bairro predominante: São Paulo / Pinheiros, São Paulo / Osasco.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0" y="1645920"/>
            <a:ext cx="2377440" cy="1600200"/>
          </a:xfrm>
          <a:prstGeom prst="roundRect">
            <a:avLst>
              <a:gd name="adj" fmla="val 3429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84848" y="1810512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C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6784848" y="2359152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regionais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84848" y="2633472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formadas automaticamente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44000" y="1645920"/>
            <a:ext cx="2377440" cy="1600200"/>
          </a:xfrm>
          <a:prstGeom prst="roundRect">
            <a:avLst>
              <a:gd name="adj" fmla="val 3429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45168" y="1810512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9345168" y="2359152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agências na mediana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345168" y="2633472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4, máximo 40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0" y="3429000"/>
            <a:ext cx="2377440" cy="1600200"/>
          </a:xfrm>
          <a:prstGeom prst="roundRect">
            <a:avLst>
              <a:gd name="adj" fmla="val 3429"/>
            </a:avLst>
          </a:prstGeom>
          <a:solidFill>
            <a:srgbClr val="E4F1ED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84848" y="3593592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6784848" y="4142232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mais de 150 km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4848" y="4416552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avião entra na disputa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44000" y="3429000"/>
            <a:ext cx="2377440" cy="1600200"/>
          </a:xfrm>
          <a:prstGeom prst="roundRect">
            <a:avLst>
              <a:gd name="adj" fmla="val 3429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345168" y="3593592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3000" dirty="0"/>
          </a:p>
        </p:txBody>
      </p:sp>
      <p:sp>
        <p:nvSpPr>
          <p:cNvPr id="34" name="Text 32"/>
          <p:cNvSpPr txBox="1"/>
          <p:nvPr/>
        </p:nvSpPr>
        <p:spPr>
          <a:xfrm>
            <a:off x="9345168" y="4142232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 estados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345168" y="4416552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regionais multi-UF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583680" y="5212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compacta gera rota de carro — e isso é a resposta certa, não uma falha do modelo.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2 — Estimativa de custo e tempo por trecho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calibradas com fontes oficiais, aplicadas às coordenadas reais de cada deslocamento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29000" cy="2743200"/>
          </a:xfrm>
          <a:prstGeom prst="roundRect">
            <a:avLst>
              <a:gd name="adj" fmla="val 2000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28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12848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Gasolina a R$ 6,70/L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 12 km/L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Pedágio de R$ 0,05/km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km/h em rodovia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de 700 km/dia, exige pernoite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4023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ANP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429000" cy="2743200"/>
          </a:xfrm>
          <a:prstGeom prst="roundRect">
            <a:avLst>
              <a:gd name="adj" fmla="val 2000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9432" y="1828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Ônibus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212848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preço por distância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Calibrada com faixas reais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km/h com paradas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de 1.200 km, pode exigir conexão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4023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ANTT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429000" cy="2743200"/>
          </a:xfrm>
          <a:prstGeom prst="roundRect">
            <a:avLst>
              <a:gd name="adj" fmla="val 2000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02752" y="1828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Avião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02752" y="2212848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tarifa por distância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km/h de cruzeiro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 de overhead de aeroporto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Indisponível abaixo de 150 km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4023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ANAC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8006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do modal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1206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 tempo de cada modal são normalizados pelo maior valor do trecho e combinados segundo o peso escolhido pelo usuário. Em 100% custo, um trecho de 457 km vai de ônibus por R$ 170. Movendo o controle para o meio, o avião assume: custa R$ 200 a mais e economiza 5 horas.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do protótipo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camadas separadas, para que a troca do mock por dados reais não toque nas telas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7680960" cy="1143000"/>
          </a:xfrm>
          <a:prstGeom prst="roundRect">
            <a:avLst>
              <a:gd name="adj" fmla="val 4800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6537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dados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57984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 JSON com agências, regionais, aeroportos e parâmetros do modelo. Gerado por um pipeline Python versionado.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80560" y="2880360"/>
            <a:ext cx="0" cy="228600"/>
          </a:xfrm>
          <a:prstGeom prst="line">
            <a:avLst/>
          </a:prstGeom>
          <a:noFill/>
          <a:ln w="25400">
            <a:solidFill>
              <a:srgbClr val="D9E0E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0080" y="3108960"/>
            <a:ext cx="7680960" cy="1143000"/>
          </a:xfrm>
          <a:prstGeom prst="roundRect">
            <a:avLst>
              <a:gd name="adj" fmla="val 4800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23697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cálculo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529584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 em JavaScript do modelo de transporte, validado dígito a dígito contra a versão original em Python.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80560" y="4251960"/>
            <a:ext cx="0" cy="228600"/>
          </a:xfrm>
          <a:prstGeom prst="line">
            <a:avLst/>
          </a:prstGeom>
          <a:noFill/>
          <a:ln w="25400">
            <a:solidFill>
              <a:srgbClr val="D9E0E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4480560"/>
            <a:ext cx="7680960" cy="1143000"/>
          </a:xfrm>
          <a:prstGeom prst="roundRect">
            <a:avLst>
              <a:gd name="adj" fmla="val 4800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60857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901184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de painel, assistente em quatro etapas, processamento e resultado com mapa e comparação.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0" y="1737360"/>
            <a:ext cx="2834640" cy="1737360"/>
          </a:xfrm>
          <a:prstGeom prst="roundRect">
            <a:avLst>
              <a:gd name="adj" fmla="val 3158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87968" y="1901952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C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887968" y="245059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HTML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87968" y="2724912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Autocontido, abre no navegador sem servidor nem instalação.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686800" y="3703320"/>
            <a:ext cx="2834640" cy="1737360"/>
          </a:xfrm>
          <a:prstGeom prst="roundRect">
            <a:avLst>
              <a:gd name="adj" fmla="val 3158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87968" y="3867912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887968" y="4416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chamadas externas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887968" y="4690872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dados embutidos. Funciona offline, inclusive numa apresentação sem internet.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entrada do algoritmo de roteirização é uma única função, marcada em comentário no código.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jornada do gerente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painel à rota recomendada, com possibilidade de voltar e editar em qualquer ponto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65960"/>
            <a:ext cx="402336" cy="402336"/>
          </a:xfrm>
          <a:prstGeom prst="ellipse">
            <a:avLst/>
          </a:prstGeom>
          <a:solidFill>
            <a:srgbClr val="1226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01168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1168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54203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a regional, o que vence em 30 dias e o que está em atraso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1965960"/>
            <a:ext cx="402336" cy="402336"/>
          </a:xfrm>
          <a:prstGeom prst="ellipse">
            <a:avLst/>
          </a:prstGeom>
          <a:solidFill>
            <a:srgbClr val="1226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201168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01168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e período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54203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da sede ou de outro município, dentro de uma janela de datas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1965960"/>
            <a:ext cx="402336" cy="402336"/>
          </a:xfrm>
          <a:prstGeom prst="ellipse">
            <a:avLst/>
          </a:prstGeom>
          <a:solidFill>
            <a:srgbClr val="1226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02752" y="201168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23960" y="201168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254203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Busca, filtra e seleciona; atalhos adicionam as vencidas de uma vez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4069080"/>
            <a:ext cx="402336" cy="402336"/>
          </a:xfrm>
          <a:prstGeom prst="ellipse">
            <a:avLst/>
          </a:prstGeom>
          <a:solidFill>
            <a:srgbClr val="1226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11480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11480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64515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visita, teto diário, modais liberados e regra de pernoite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84048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9432" y="4069080"/>
            <a:ext cx="402336" cy="402336"/>
          </a:xfrm>
          <a:prstGeom prst="ellipse">
            <a:avLst/>
          </a:prstGeom>
          <a:solidFill>
            <a:srgbClr val="1226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99432" y="411480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411480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464515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custo, menor tempo ou equilíbrio, com prévia ao vivo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84048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02752" y="4069080"/>
            <a:ext cx="402336" cy="402336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02752" y="411480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823960" y="411480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02752" y="464515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no mapa, itinerário por dia e comparação com o cenário atual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bloqueia estados inválidos: datas invertidas, seleção com menos de duas agências, agenda que não comporta as visitas.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Resultado: regional Araguaína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agências em Maranhão, Pará e Tocantins, com 457 km entre os pontos mais distantes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5836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91640"/>
            <a:ext cx="3931920" cy="1554480"/>
          </a:xfrm>
          <a:prstGeom prst="roundRect">
            <a:avLst>
              <a:gd name="adj" fmla="val 3529"/>
            </a:avLst>
          </a:prstGeom>
          <a:solidFill>
            <a:srgbClr val="E4F1ED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90688" y="1856232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R$ 906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790688" y="2404872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economia estimada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90688" y="2679192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42,5% abaixo do cenário de referência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589520" y="3383280"/>
            <a:ext cx="1874520" cy="150876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90688" y="3547872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dia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7790688" y="409651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menos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90688" y="4370832"/>
            <a:ext cx="1472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em vez de 6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646920" y="3383280"/>
            <a:ext cx="1874520" cy="150876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848088" y="3547872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523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848088" y="409651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a menos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848088" y="4370832"/>
            <a:ext cx="1472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total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120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cenário de referência usa exatamente as mesmas agências e o mesmo modelo de custo, visitadas na ordem do cadastro e sempre de carro — que é o que aconteceria sem o sistema. A rota recomendada trocou quatro dos sete trechos para ônibus e, por encurtar o caminho, cortou um dia inteiro de viagem: três pernoites em vez de cinco, o que responde por boa parte da economia.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real e o que é simulado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interface declara isso ao usuário, em vez de apresentar tudo com a mesma confiança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621792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196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das agências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82880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Central, novembro de 2024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10881360" cy="621792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5511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56032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Bairro em 87,5% dos casos; município no restante, marcado na tela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10881360" cy="621792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2826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Regionais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329184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 por k-means com teto e piso de capacidade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881360" cy="621792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0142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Custo, tempo e distância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402336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calibrado com ANP, ANTT e ANAC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10881360" cy="621792"/>
          </a:xfrm>
          <a:prstGeom prst="roundRect">
            <a:avLst>
              <a:gd name="adj" fmla="val 5882"/>
            </a:avLst>
          </a:prstGeom>
          <a:solidFill>
            <a:srgbClr val="FBF0DF"/>
          </a:solidFill>
          <a:ln w="12700">
            <a:solidFill>
              <a:srgbClr val="EBD9B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7457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e prazo de visita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4754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475488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existem em base pública; são dados de planejamento interno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303520"/>
            <a:ext cx="10881360" cy="621792"/>
          </a:xfrm>
          <a:prstGeom prst="roundRect">
            <a:avLst>
              <a:gd name="adj" fmla="val 5882"/>
            </a:avLst>
          </a:prstGeom>
          <a:solidFill>
            <a:srgbClr val="FBF0DF"/>
          </a:solidFill>
          <a:ln w="12700">
            <a:solidFill>
              <a:srgbClr val="EBD9B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54772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das visitas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206240" y="5486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PROVISÓRIO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548640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 geográfica; é onde o algoritmo de roteirização entra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separação aparece no rodapé das telas do protótipo, não apenas nesta apresentação.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Aderência ao que foi prometido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do Canvas MVP confrontada com o que está navegável no protótipo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75488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673352"/>
            <a:ext cx="40444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Compromisso do Canvas MVP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995387" y="1673352"/>
            <a:ext cx="13045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82767" y="1673352"/>
            <a:ext cx="49838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no protótipo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075688"/>
            <a:ext cx="10881360" cy="475488"/>
          </a:xfrm>
          <a:prstGeom prst="rect">
            <a:avLst/>
          </a:prstGeom>
          <a:solidFill>
            <a:srgbClr val="F4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" y="2139696"/>
            <a:ext cx="40444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das agências a visitar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995387" y="2139696"/>
            <a:ext cx="1304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82767" y="2139696"/>
            <a:ext cx="49838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Busca, filtros por estado, cidade e prioridade, e atalhos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551176"/>
            <a:ext cx="108813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" y="2615184"/>
            <a:ext cx="40444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Origem, período e restrições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995387" y="2615184"/>
            <a:ext cx="1304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82767" y="2615184"/>
            <a:ext cx="49838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1 e 3, com trava quando a agenda não comporta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026664"/>
            <a:ext cx="10881360" cy="475488"/>
          </a:xfrm>
          <a:prstGeom prst="rect">
            <a:avLst/>
          </a:prstGeom>
          <a:solidFill>
            <a:srgbClr val="F4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" y="3090672"/>
            <a:ext cx="40444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otimização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995387" y="3090672"/>
            <a:ext cx="1304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82767" y="3090672"/>
            <a:ext cx="49838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Custo, tempo ou peso ajustável, com prévia ao vivo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502152"/>
            <a:ext cx="108813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" y="3566160"/>
            <a:ext cx="40444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recomendada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995387" y="3566160"/>
            <a:ext cx="1304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82767" y="3566160"/>
            <a:ext cx="49838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provisória de varredura; TSP é o próximo passo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977640"/>
            <a:ext cx="10881360" cy="475488"/>
          </a:xfrm>
          <a:prstGeom prst="rect">
            <a:avLst/>
          </a:prstGeom>
          <a:solidFill>
            <a:srgbClr val="F4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096" y="4041648"/>
            <a:ext cx="40444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recomendado por trecho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995387" y="4041648"/>
            <a:ext cx="1304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82767" y="4041648"/>
            <a:ext cx="49838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modais comparados, com o motivo da escolha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453128"/>
            <a:ext cx="108813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" y="4517136"/>
            <a:ext cx="40444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Distância, tempo e custo por trecho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995387" y="4517136"/>
            <a:ext cx="1304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482767" y="4517136"/>
            <a:ext cx="49838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 expansível de cada trecho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4928616"/>
            <a:ext cx="10881360" cy="475488"/>
          </a:xfrm>
          <a:prstGeom prst="rect">
            <a:avLst/>
          </a:prstGeom>
          <a:solidFill>
            <a:srgbClr val="F4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8096" y="4992624"/>
            <a:ext cx="40444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Totais e economia estimada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995387" y="4992624"/>
            <a:ext cx="1304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482767" y="4992624"/>
            <a:ext cx="49838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indicadores no topo do resultado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404104"/>
            <a:ext cx="108813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8096" y="5468112"/>
            <a:ext cx="40444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com cenário de referência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995387" y="5468112"/>
            <a:ext cx="1304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482767" y="5468112"/>
            <a:ext cx="49838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Mesmas agências, ordem de cadastro, tudo de carro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" y="5879592"/>
            <a:ext cx="10881360" cy="475488"/>
          </a:xfrm>
          <a:prstGeom prst="rect">
            <a:avLst/>
          </a:prstGeom>
          <a:solidFill>
            <a:srgbClr val="F4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8096" y="5943600"/>
            <a:ext cx="40444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básico do roteiro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4995387" y="5943600"/>
            <a:ext cx="1304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6482767" y="5943600"/>
            <a:ext cx="49838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Planejamentos salvos e reabertos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Pontos em aberto antes da entrega final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que dependem do grupo e não do produto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FBF0DF"/>
          </a:solidFill>
          <a:ln w="12700">
            <a:solidFill>
              <a:srgbClr val="EBD9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do repositório GitHub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837944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README com tema e integrantes, requirements.txt e ao menos dois commits descritivos.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FBF0DF"/>
          </a:solidFill>
          <a:ln w="12700">
            <a:solidFill>
              <a:srgbClr val="EBD9B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do quadro do workshop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889504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o Miro ou Figma usado na Lean Inception.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FBF0DF"/>
          </a:solidFill>
          <a:ln w="12700">
            <a:solidFill>
              <a:srgbClr val="EBD9B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931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dos datasets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3941064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as URLs exatas das duas bases utilizadas.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84632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FBF0DF"/>
          </a:solidFill>
          <a:ln w="12700">
            <a:solidFill>
              <a:srgbClr val="EBD9B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983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base do cenário atual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4992624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custo e tempo do planejamento manual para calibrar as metas de redução.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806440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" y="5952744"/>
            <a:ext cx="10296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deles bloqueia a demonstração do produto, mas todos constam da lista de verificação do checkpoint.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protótipo foi construído para que cada um destes seja uma substituição, não uma reescrita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394960" cy="1600200"/>
          </a:xfrm>
          <a:prstGeom prst="roundRect">
            <a:avLst>
              <a:gd name="adj" fmla="val 3429"/>
            </a:avLst>
          </a:prstGeom>
          <a:solidFill>
            <a:srgbClr val="1D3A55"/>
          </a:solidFill>
          <a:ln w="12700">
            <a:solidFill>
              <a:srgbClr val="2C4E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23160"/>
            <a:ext cx="365760" cy="36576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45973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4414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roteirização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260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a varredura geográfica por TSP ou VRP com janelas de tempo. Uma única função muda.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2148840"/>
            <a:ext cx="5394960" cy="1600200"/>
          </a:xfrm>
          <a:prstGeom prst="roundRect">
            <a:avLst>
              <a:gd name="adj" fmla="val 3429"/>
            </a:avLst>
          </a:prstGeom>
          <a:solidFill>
            <a:srgbClr val="1D3A55"/>
          </a:solidFill>
          <a:ln w="12700">
            <a:solidFill>
              <a:srgbClr val="2C4E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2423160"/>
            <a:ext cx="365760" cy="36576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45973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4414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Geocodificação por endereço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9260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Levar a precisão do bairro para o nível de rua, via serviço de geocodificação.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394960" cy="1600200"/>
          </a:xfrm>
          <a:prstGeom prst="roundRect">
            <a:avLst>
              <a:gd name="adj" fmla="val 3429"/>
            </a:avLst>
          </a:prstGeom>
          <a:solidFill>
            <a:srgbClr val="1D3A55"/>
          </a:solidFill>
          <a:ln w="12700">
            <a:solidFill>
              <a:srgbClr val="2C4E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297680"/>
            <a:ext cx="365760" cy="36576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33425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3159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em tempo real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8006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de combustível, tarifas de ônibus e voos consultados no momento do planejamento.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4023360"/>
            <a:ext cx="5394960" cy="1600200"/>
          </a:xfrm>
          <a:prstGeom prst="roundRect">
            <a:avLst>
              <a:gd name="adj" fmla="val 3429"/>
            </a:avLst>
          </a:prstGeom>
          <a:solidFill>
            <a:srgbClr val="1D3A55"/>
          </a:solidFill>
          <a:ln w="12700">
            <a:solidFill>
              <a:srgbClr val="2C4E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4297680"/>
            <a:ext cx="365760" cy="36576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33425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3159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e integração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8006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dados, autenticação e conexão com a agenda corporativa.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FC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protótipo que declara os próprios limites vale mais que um que finge não ter nenhum.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Roteirização de Visitas às Agências</dc:title>
  <dc:subject>PptxGenJS Presentation</dc:subject>
  <dc:creator>Rafael Menezes</dc:creator>
  <cp:lastModifiedBy>Rafael Menezes</cp:lastModifiedBy>
  <cp:revision>1</cp:revision>
  <dcterms:created xsi:type="dcterms:W3CDTF">2026-09-10T22:15:03Z</dcterms:created>
  <dcterms:modified xsi:type="dcterms:W3CDTF">2026-09-10T22:15:03Z</dcterms:modified>
</cp:coreProperties>
</file>