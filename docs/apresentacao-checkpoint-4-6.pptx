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Pontos</c:v>
                </c:pt>
              </c:strCache>
            </c:strRef>
          </c:tx>
          <c:spPr>
            <a:solidFill>
              <a:srgbClr val="2E6FA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2263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Sheet1!$A$2:$A$15</c:f>
              <c:multiLvlStrCache>
                <c:ptCount val="14"/>
                <c:lvl>
                  <c:pt idx="0">
                    <c:v>US01</c:v>
                  </c:pt>
                  <c:pt idx="1">
                    <c:v>US02</c:v>
                  </c:pt>
                  <c:pt idx="2">
                    <c:v>US03</c:v>
                  </c:pt>
                  <c:pt idx="3">
                    <c:v>US04</c:v>
                  </c:pt>
                  <c:pt idx="4">
                    <c:v>US05</c:v>
                  </c:pt>
                  <c:pt idx="5">
                    <c:v>US06</c:v>
                  </c:pt>
                  <c:pt idx="6">
                    <c:v>US07</c:v>
                  </c:pt>
                  <c:pt idx="7">
                    <c:v>US08</c:v>
                  </c:pt>
                  <c:pt idx="8">
                    <c:v>US09</c:v>
                  </c:pt>
                  <c:pt idx="9">
                    <c:v>US10</c:v>
                  </c:pt>
                  <c:pt idx="10">
                    <c:v>US11</c:v>
                  </c:pt>
                  <c:pt idx="11">
                    <c:v>US12</c:v>
                  </c:pt>
                  <c:pt idx="12">
                    <c:v>US13</c:v>
                  </c:pt>
                  <c:pt idx="13">
                    <c:v>US14</c:v>
                  </c:pt>
                </c:lvl>
              </c:multiLvlStrCache>
            </c:multiLvl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</c:v>
                </c:pt>
                <c:pt idx="1">
                  <c:v>3</c:v>
                </c:pt>
                <c:pt idx="2">
                  <c:v>2</c:v>
                </c:pt>
                <c:pt idx="3">
                  <c:v>5</c:v>
                </c:pt>
                <c:pt idx="4">
                  <c:v>3</c:v>
                </c:pt>
                <c:pt idx="5">
                  <c:v>3</c:v>
                </c:pt>
                <c:pt idx="6">
                  <c:v>2</c:v>
                </c:pt>
                <c:pt idx="7">
                  <c:v>3</c:v>
                </c:pt>
                <c:pt idx="8">
                  <c:v>5</c:v>
                </c:pt>
                <c:pt idx="9">
                  <c:v>5</c:v>
                </c:pt>
                <c:pt idx="10">
                  <c:v>8</c:v>
                </c:pt>
                <c:pt idx="11">
                  <c:v>8</c:v>
                </c:pt>
                <c:pt idx="12">
                  <c:v>3</c:v>
                </c:pt>
                <c:pt idx="13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2263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2263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.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Este checkpoint não é um trabalho novo: é o mesmo produto do Canvas MVP ganhando backlog, arquitetura e plano.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que nada foi criado do zero: o backlog nasce do Canvas, a arquitetura implementa as stories e o plano organiza o trabalho sobre essa arquitetura.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pergunta provável é por que dados e modelo não estão no topo. Resposta: eles são pré-requisito técnico, mas sozinhos não entregam valor ao Rafael.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linha é uma Issue no GitHub, com o mesmo número: a US05 é a Issue #5.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duas viraram teste automático. Se alguém perguntar como validar, a resposta é: rode python -m pytest.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INVEST todo aprovado levanta suspeita de que ninguém revisou. Mostrar as ressalvas é mostrar que a revisão aconteceu.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não funcionais de ML da Aula 4 estão aqui: desempenho do modelo, drift, explicabilidade e LGPD.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requisito de qualidade foi o que mais rendeu: foi validando-o que encontramos os dois defeitos da Parte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três estágios da Aula 5 têm ciclos de vida diferentes. A preparação ficou separada da ingestão porque muda por motivo diferente.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só der tempo de explicar um, explicar o D, que é o que a Aula 5 pede nominalmente. O próximo slide mostra o código.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teste test_fonte_em_memoria_substitui_o_excel é a prova executável de que a inversão funciona.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Aula 5 pede para comparar a saída com a versão anterior. Reativar os defeitos isolou o efeito da reorganização do efeito das correções.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baseline é o que o sistema fazia antes: o mesmo preço para o Brasil inteiro. Por isso a comparação é honesta.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o PR aberto no navegador, na aba Files changed, com os comentários de revisão.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Nível 3, os entregáveis, está no documento docs/planejamento.md. No slide ficou o nível 2 e o 4, que é onde mora a rastreabilidade.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US04: o 3 via só ordenar; o 8 lembrou de quebrar em dias com teto e janela → 5. US09: reabrir planejamento antigo com base alterada → 5, com aviso em vez de reconciliar. US11: 13 pela incerteza; baseline já medido fechou em 8. US12: empate 8/13; escopo limitado a vizinho mais próximo + 2-opt para caber em 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R3 é o único vermelho de nota 9. Ele se resolve com a área de negócio, por isso a resposta é transferir.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a escolha honestamente: não faria sentido planejar construir de novo telas que já existem.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houver tempo, abrir o protótipo e mostrar uma jornada. Se não, este slide fecha.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7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E GESTÃO DE DADOS · CCD610 · CHECKPOINT DAS AULAS 4, 5 E 6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0020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Sistema de Roteirização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7FC4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Visitas às Agências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Canvas MVP ao plano da Sprint 1: requisitos, arquitetura e planejamento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3886200"/>
            <a:ext cx="2743200" cy="0"/>
          </a:xfrm>
          <a:prstGeom prst="line">
            <a:avLst/>
          </a:prstGeom>
          <a:noFill/>
          <a:ln w="31750">
            <a:solidFill>
              <a:srgbClr val="0E7C6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411480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 Cassiano · Gabriel Felipe · Luca Juraski · Victor Meneguin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75488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7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Repositório 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github.com/davi-cassiano/Projeto-Varela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7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 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github.com/davi-cassiano/Projeto-Varela/pull/15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7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 #1 a #14 · quadro em github.com/users/davi-cassiano/projects/1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mesmo produto, amadurecendo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etapa recebe a saída da anterior — é a regra de rastreabilidade do checkpoint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2578608" cy="2377440"/>
          </a:xfrm>
          <a:prstGeom prst="roundRect">
            <a:avLst>
              <a:gd name="adj" fmla="val 192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187452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3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1488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Canvas MVP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269748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 Rafael, 8 funcionalidades na Onda 1, métricas de validação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154680" y="2743200"/>
            <a:ext cx="182880" cy="274320"/>
          </a:xfrm>
          <a:prstGeom prst="rightArrow">
            <a:avLst/>
          </a:prstGeom>
          <a:solidFill>
            <a:srgbClr val="9AAAB8"/>
          </a:solidFill>
          <a:ln w="12700">
            <a:solidFill>
              <a:srgbClr val="9AAAB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55848" y="1691640"/>
            <a:ext cx="2578608" cy="2377440"/>
          </a:xfrm>
          <a:prstGeom prst="roundRect">
            <a:avLst>
              <a:gd name="adj" fmla="val 1923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57016" y="187452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557016" y="21488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Backlog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3557016" y="269748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épicos, 14 user stories, critérios de aceite, INVEST e requisitos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961888" y="2743200"/>
            <a:ext cx="182880" cy="274320"/>
          </a:xfrm>
          <a:prstGeom prst="rightArrow">
            <a:avLst/>
          </a:prstGeom>
          <a:solidFill>
            <a:srgbClr val="9AAAB8"/>
          </a:solidFill>
          <a:ln w="12700">
            <a:solidFill>
              <a:srgbClr val="9AAAB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63056" y="1691640"/>
            <a:ext cx="2578608" cy="2377440"/>
          </a:xfrm>
          <a:prstGeom prst="roundRect">
            <a:avLst>
              <a:gd name="adj" fmla="val 1923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64224" y="187452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5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364224" y="21488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Arquitetura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364224" y="269748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ingest, features, train e serve, SOLID, 23 testes, pull request #15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769096" y="2743200"/>
            <a:ext cx="182880" cy="274320"/>
          </a:xfrm>
          <a:prstGeom prst="rightArrow">
            <a:avLst/>
          </a:prstGeom>
          <a:solidFill>
            <a:srgbClr val="9AAAB8"/>
          </a:solidFill>
          <a:ln w="12700">
            <a:solidFill>
              <a:srgbClr val="9AAAB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970264" y="1691640"/>
            <a:ext cx="2578608" cy="2377440"/>
          </a:xfrm>
          <a:prstGeom prst="roundRect">
            <a:avLst>
              <a:gd name="adj" fmla="val 1923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71432" y="187452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6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9171432" y="21488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9171432" y="269748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WBS em 4 níveis, estimativas, 7 riscos e Sprint 1 com 19 de 20 pontos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343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de rastreabilidade de ponta a ponta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48640" y="4709160"/>
            <a:ext cx="205740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58368" y="48006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Canvas: recomendar modal por trecho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2606040" y="4846320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2798064" y="4709160"/>
            <a:ext cx="205740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07792" y="48006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US05 · Issue #5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4855464" y="4846320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047488" y="4709160"/>
            <a:ext cx="205740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157216" y="48006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serve.py · classes Carro, Ônibus, Avião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7104888" y="4846320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7296912" y="4709160"/>
            <a:ext cx="205740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406640" y="48006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WBS 4.3 · Sprint 1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9354312" y="4846320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9546336" y="4709160"/>
            <a:ext cx="205740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656064" y="48006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test_serve.py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48640" y="571500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22960" y="587044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Nesta entrega o protótipo de interface é só evidência. O centro são os entregáveis das Aulas 4, 5 e 6: backlog, arquitetura e plano.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ENGENHARIA DE REQUISITOS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Épicos e critério de priorização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quatro épicos agrupam as funcionalidades da Onda 1 do Canvas MVP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5394960" cy="1207008"/>
          </a:xfrm>
          <a:prstGeom prst="roundRect">
            <a:avLst>
              <a:gd name="adj" fmla="val 3788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1783080"/>
            <a:ext cx="301752" cy="256032"/>
          </a:xfrm>
          <a:prstGeom prst="roundRect">
            <a:avLst>
              <a:gd name="adj" fmla="val 14286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1824228"/>
            <a:ext cx="3017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E1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76479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Montagem do planejamento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2130552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Selecionar agências, informar origem, período e restrições, escolher o objetivo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749808" y="2496312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US01 · US02 · US03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26480" y="1600200"/>
            <a:ext cx="5394960" cy="1207008"/>
          </a:xfrm>
          <a:prstGeom prst="roundRect">
            <a:avLst>
              <a:gd name="adj" fmla="val 3788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27648" y="1783080"/>
            <a:ext cx="301752" cy="256032"/>
          </a:xfrm>
          <a:prstGeom prst="roundRect">
            <a:avLst>
              <a:gd name="adj" fmla="val 14286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27648" y="1824228"/>
            <a:ext cx="3017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6812280" y="176479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Recomendação da rota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327648" y="2130552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Sequência de visitas, modal por trecho, distância, tempo e custo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327648" y="2496312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US04 · US05 · US06 · US12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2971800"/>
            <a:ext cx="5394960" cy="1207008"/>
          </a:xfrm>
          <a:prstGeom prst="roundRect">
            <a:avLst>
              <a:gd name="adj" fmla="val 3788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9808" y="3154680"/>
            <a:ext cx="301752" cy="256032"/>
          </a:xfrm>
          <a:prstGeom prst="roundRect">
            <a:avLst>
              <a:gd name="adj" fmla="val 14286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49808" y="3195828"/>
            <a:ext cx="3017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E3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1234440" y="313639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Avaliação do planejamento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49808" y="3502152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Totais, economia, cenário de referência e registro do roteiro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749808" y="3867912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US07 · US08 · US09 · US13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126480" y="2971800"/>
            <a:ext cx="5394960" cy="1207008"/>
          </a:xfrm>
          <a:prstGeom prst="roundRect">
            <a:avLst>
              <a:gd name="adj" fmla="val 3788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27648" y="3154680"/>
            <a:ext cx="301752" cy="256032"/>
          </a:xfrm>
          <a:prstGeom prst="roundRect">
            <a:avLst>
              <a:gd name="adj" fmla="val 14286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327648" y="3195828"/>
            <a:ext cx="3017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E4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6812280" y="313639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e modelos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6327648" y="3502152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Localização confiável e preço de combustível por estado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6327648" y="3867912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US10 · US11 · US14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44348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de priorização: valor para a hipótese do MVP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480060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Primeiro o que testa a hipótese de ponta a ponta (US01 a US08) — sem a jornada completa não se mede economia.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Depois o que dá confiança ao resultado (US10 e US11) — antes na construção, depois na ordem de valor.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Por último o que torna o uso recorrente (US09). Onda 2 só depois de validar a hipótese.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i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Facilidade técnica não foi critério, como pede a Aula 4. Dependência técnica só desempata.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ENGENHARIA DE REQUISITOS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Backlog: 14 user stories priorizadas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Rafael, gerente regional, quero… para… · ordem da tabela = prioridade · cada story é uma Issue no GitHub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64240" cy="914400"/>
        </p:xfrm>
        <a:graphic>
          <a:graphicData uri="http://schemas.openxmlformats.org/drawingml/2006/table">
            <a:tbl>
              <a:tblPr/>
              <a:tblGrid>
                <a:gridCol w="382993"/>
                <a:gridCol w="638322"/>
                <a:gridCol w="3063943"/>
                <a:gridCol w="2808615"/>
                <a:gridCol w="2808615"/>
                <a:gridCol w="808541"/>
                <a:gridCol w="55321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Quero…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Para…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Funcionalidade do Canvas MVP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Selecionar as agências da minha regional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montar a viagem só com quem precisa de visita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Selecionar agências a visitar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Informar origem, período e restrições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rota caber na minha agenda real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Informar origem, período e restrições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Escolher o objetivo da rota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adaptar a viagem à urgência do ciclo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Definir objetivo: custo, tempo ou combinação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Receber a sequência de visitas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decidir a ordem de cabeça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Gerar sequência recomendada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Saber qual transporte usar em cada trecho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escolher o transporte por hábito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Recomendar modal por trecho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 o detalhe de cada trecho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confiar e justificar a recomendação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Exibir distância, tempo e custo por trecho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 o custo total e a economia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saber o tamanho da viagem antes de aprovar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Exibir totais e economia estimada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Comparar com o que eu faria sem o sistema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enxergar de onde vem a economia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Comparar com cenário de referência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Agências no lugar certo do mapa · dados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confiar nas distâncias e nos custos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Sustenta US04, US05 e US06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Preço do combustível do estado · modelo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estimativa refletir a região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Sustenta US05 e US07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Salvar e exportar o planejamento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anexar à solicitação de viagem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 básico do roteiro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Sequência otimizada de visitas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evitar idas e voltas desnecessárias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Reotimização dos cronogramas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9A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Painel consolidado da regional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acompanhar a regional ao longo do mês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gerencial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9A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Preços atualizados automaticamente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custo estimado não envelhecer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automática de preços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9A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Prioridade pelo valor para a hipótese do MVP (slide anterior): jornada completa, depois confiança no resultado, depois uso recorrente. Pontos do Planning Poker: Onda 1 42 · Onda 2 16 · total 58.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ENGENHARIA DE REQUISITOS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Stories com critério de métrica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de dados (US10) e uma do modelo (US11), com o critério Dado/Quando/Então e o resultado medido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5394960" cy="4526280"/>
          </a:xfrm>
          <a:prstGeom prst="roundRect">
            <a:avLst>
              <a:gd name="adj" fmla="val 1010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1783080"/>
            <a:ext cx="1778508" cy="256032"/>
          </a:xfrm>
          <a:prstGeom prst="roundRect">
            <a:avLst>
              <a:gd name="adj" fmla="val 14286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1824228"/>
            <a:ext cx="17785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US10 · story de dados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9456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Rafael, quero que cada agência esteja na posição correta e que eu saiba quando ela é aproximada, para confiar nas distâncias.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1546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1645920" y="3154680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2.010 agências, que na base do Bacen não têm coordenada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86791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1645920" y="3867912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pipeline de ingestão e preparação roda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4581144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ENTÃO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645920" y="4581144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têm ao menos coordenada de município, pelo menos 70% têm de bairro, e nenhuma fica a mais de 30 km do centro do município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77240" y="5440680"/>
            <a:ext cx="49377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4400" y="554126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74,7% com bairro · 290 descartadas pela regra dos 30 km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126480" y="1600200"/>
            <a:ext cx="5394960" cy="4526280"/>
          </a:xfrm>
          <a:prstGeom prst="roundRect">
            <a:avLst>
              <a:gd name="adj" fmla="val 1010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55080" y="1783080"/>
            <a:ext cx="1856232" cy="256032"/>
          </a:xfrm>
          <a:prstGeom prst="roundRect">
            <a:avLst>
              <a:gd name="adj" fmla="val 14286"/>
            </a:avLst>
          </a:prstGeom>
          <a:solidFill>
            <a:srgbClr val="0E7C66"/>
          </a:solidFill>
          <a:ln w="12700">
            <a:solidFill>
              <a:srgbClr val="0E7C6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55080" y="1824228"/>
            <a:ext cx="1856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US11 · story de modelo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6355080" y="219456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Rafael, quero que o custo de carro use o preço do combustível do estado, para que a estimativa reflita a região.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355080" y="31546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7223760" y="3154680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série semanal da ANP por estado, treino até dez/2019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355080" y="386791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7223760" y="3867912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é avaliado em 2020–2021, que não viu no treino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6355080" y="4581144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ENTÃO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7223760" y="4581144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erro médio é de no máximo R$ 0,15/L e fica 25% abaixo do baseline nacional (R$ 0,20/L)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355080" y="5440680"/>
            <a:ext cx="49377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92240" y="554126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R$ 0,095/L · 52% abaixo do baseline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ENGENHARIA DE REQUISITOS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Revisão INVEST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· Negotiable · Valuable · Estimable · Small · Testable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5544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das 14 stories passaram nas seis letras. As outras quatro têm a ressalva registrada, em vez de um checklist todo verde.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1680"/>
          <a:ext cx="11064240" cy="914400"/>
        </p:xfrm>
        <a:graphic>
          <a:graphicData uri="http://schemas.openxmlformats.org/drawingml/2006/table">
            <a:tbl>
              <a:tblPr/>
              <a:tblGrid>
                <a:gridCol w="1034041"/>
                <a:gridCol w="1240849"/>
                <a:gridCol w="878935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Letra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Ressalva e tratamento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A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Precisa de uma seleção de agências como entrada; testável isoladamente com uma lista fixa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A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Exibe o que a US05 calcula; a dependência é de dado, não de entrega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A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 é experimento; o baseline medido antes de estimar reduziu a incerteza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A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E,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Pode não caber numa sprint; se o Poker passar de 8 pontos, dividir em heurística e refinamento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A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I, E,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Depende de fonte com publicação automatizada; avaliar a fonte antes de estimar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525780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2960" y="541324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Nenhuma story precisou ser reescrita. As ressalvas voltam na mesa no Planning Poker.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ENGENHARIA DE REQUISITOS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Requisitos funcionais e não funcionais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requisito aponta para as stories que o realizam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5349240" cy="914400"/>
        </p:xfrm>
        <a:graphic>
          <a:graphicData uri="http://schemas.openxmlformats.org/drawingml/2006/table">
            <a:tbl>
              <a:tblPr/>
              <a:tblGrid>
                <a:gridCol w="679269"/>
                <a:gridCol w="3566160"/>
                <a:gridCol w="1103811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Requisito funcional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Stories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Listar e filtrar agências da regional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Receber origem, período, janela e modais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Bloquear quando a agenda não comporta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Objetivo: custo, tempo ou peso ajustável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Gerar sequência distribuída em dias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US04, US12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RF06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Recomendar um modal por trecho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Exibir trecho e alternativas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RF08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Calcular totais, diárias e economia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RF09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Calcular o cenário de referência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Salvar, reabrir e exportar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1554480"/>
          <a:ext cx="5440680" cy="914400"/>
        </p:xfrm>
        <a:graphic>
          <a:graphicData uri="http://schemas.openxmlformats.org/drawingml/2006/table">
            <a:tbl>
              <a:tblPr/>
              <a:tblGrid>
                <a:gridCol w="659476"/>
                <a:gridCol w="1236518"/>
                <a:gridCol w="2555471"/>
                <a:gridCol w="989215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Requisito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Stories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Desempenho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40 agências em no máximo 2 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US04, US05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Disponibilidade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Funciona sem internet e sem servidor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Explicabilidade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Todo modal mostra motivo e alternativas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US05, US06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Transparência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 simulado sempre identificado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US07, US10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Desempenho do modelo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do preço até R$ 0,15/L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Robustez a drift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Reavaliar a cada atualização; alerta acima de R$ 0,25/L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US11, US14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Reprodutibilidade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Mesma entrada, mesma saída (sementes fixas)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US10, US11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Privacidade (LGPD)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Nenhum dado pessoal no MVP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ENGENHARIA DE REQUISITOS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Requisitos de dados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terceiro tipo de requisito, que só existe em projetos de ML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572768"/>
            <a:ext cx="11064240" cy="77724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81965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017520" y="1691640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 de agências do Banco Central (posição 29/11/2024) · série semanal de preços da ANP (2004–2021) · bases públicas de municípios e bairros · base consolidada do grupo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468880"/>
            <a:ext cx="11064240" cy="77724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27157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017520" y="258775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16.552 agências no país, 2.010 no recorte Itaú Unibanco · 23.570 registros de gasolina comum em 27 estados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3364992"/>
            <a:ext cx="11064240" cy="77724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6118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Qualidade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017520" y="3483864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Coordenada para 100% das agências · bairro validado contra o município (até 30 km) · texto padronizado · preços fora de escala descartados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4261104"/>
            <a:ext cx="11064240" cy="77724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45079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Atualização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3017520" y="4379976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Agências a cada publicação do Bacen · preços semanais na fonte, mas a série disponível para em maio/2021 — limitação tratada pela US11 e pela US14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5157216"/>
            <a:ext cx="11064240" cy="777240"/>
          </a:xfrm>
          <a:prstGeom prst="roundRect">
            <a:avLst>
              <a:gd name="adj" fmla="val 5882"/>
            </a:avLst>
          </a:prstGeom>
          <a:solidFill>
            <a:srgbClr val="FBF0DF"/>
          </a:solidFill>
          <a:ln w="12700">
            <a:solidFill>
              <a:srgbClr val="EBD9B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540410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Restrições e LGPD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3017520" y="5276088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Bases públicas, de pessoa jurídica. Prioridade e prazo de visita são simulados por não existirem em base pública. Em produção, agenda e histórico do gerente seriam dados pessoais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ARQUITETURA E SOLID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Arquitetura de referência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Ingestão, preparação, treino e serving — um módulo por responsabilidade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1874520" cy="658368"/>
          </a:xfrm>
          <a:prstGeom prst="roundRect">
            <a:avLst>
              <a:gd name="adj" fmla="val 6944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828800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Agências · Bacen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697480"/>
            <a:ext cx="1874520" cy="658368"/>
          </a:xfrm>
          <a:prstGeom prst="roundRect">
            <a:avLst>
              <a:gd name="adj" fmla="val 6944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697480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Preços · ANP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3566160"/>
            <a:ext cx="1874520" cy="658368"/>
          </a:xfrm>
          <a:prstGeom prst="roundRect">
            <a:avLst>
              <a:gd name="adj" fmla="val 6944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566160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Municípios, bairros, estados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88920" y="1737360"/>
            <a:ext cx="1783080" cy="26517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880360" y="187452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INGESTÃO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2880360" y="214884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ingest.py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2898648" y="2651760"/>
            <a:ext cx="15636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DataSource (abstração)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carregar e validar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633472" y="2926080"/>
            <a:ext cx="137160" cy="228600"/>
          </a:xfrm>
          <a:prstGeom prst="rightArrow">
            <a:avLst/>
          </a:prstGeom>
          <a:solidFill>
            <a:srgbClr val="9AAAB8"/>
          </a:solidFill>
          <a:ln w="12700">
            <a:solidFill>
              <a:srgbClr val="9AAAB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54880" y="1737360"/>
            <a:ext cx="1783080" cy="26517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846320" y="187452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PREPARAÇÃO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4846320" y="214884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features.py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4864608" y="2651760"/>
            <a:ext cx="15636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coordenadas em 3 níveis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atributos do modelo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99432" y="2926080"/>
            <a:ext cx="137160" cy="228600"/>
          </a:xfrm>
          <a:prstGeom prst="rightArrow">
            <a:avLst/>
          </a:prstGeom>
          <a:solidFill>
            <a:srgbClr val="9AAAB8"/>
          </a:solidFill>
          <a:ln w="12700">
            <a:solidFill>
              <a:srgbClr val="9AAAB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20840" y="1737360"/>
            <a:ext cx="1783080" cy="2651760"/>
          </a:xfrm>
          <a:prstGeom prst="roundRect">
            <a:avLst>
              <a:gd name="adj" fmla="val 2564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812280" y="187452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TREINO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6812280" y="214884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train.py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830568" y="2651760"/>
            <a:ext cx="15636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das regionais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regressão do preço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565392" y="2926080"/>
            <a:ext cx="137160" cy="228600"/>
          </a:xfrm>
          <a:prstGeom prst="rightArrow">
            <a:avLst/>
          </a:prstGeom>
          <a:solidFill>
            <a:srgbClr val="9AAAB8"/>
          </a:solidFill>
          <a:ln w="12700">
            <a:solidFill>
              <a:srgbClr val="9AAAB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686800" y="1737360"/>
            <a:ext cx="1783080" cy="26517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778240" y="187452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SERVING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8778240" y="214884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serve.py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796528" y="2651760"/>
            <a:ext cx="15636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modais e custo por trecho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por estado, pacote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531352" y="2926080"/>
            <a:ext cx="137160" cy="228600"/>
          </a:xfrm>
          <a:prstGeom prst="rightArrow">
            <a:avLst/>
          </a:prstGeom>
          <a:solidFill>
            <a:srgbClr val="9AAAB8"/>
          </a:solidFill>
          <a:ln w="12700">
            <a:solidFill>
              <a:srgbClr val="9AAAB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652760" y="2377440"/>
            <a:ext cx="960120" cy="1371600"/>
          </a:xfrm>
          <a:prstGeom prst="roundRect">
            <a:avLst>
              <a:gd name="adj" fmla="val 4762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652760" y="2377440"/>
            <a:ext cx="960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Protótipo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0497312" y="2926080"/>
            <a:ext cx="137160" cy="228600"/>
          </a:xfrm>
          <a:prstGeom prst="rightArrow">
            <a:avLst/>
          </a:prstGeom>
          <a:solidFill>
            <a:srgbClr val="9AAAB8"/>
          </a:solidFill>
          <a:ln w="12700">
            <a:solidFill>
              <a:srgbClr val="9AAAB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788920" y="4572000"/>
            <a:ext cx="7680960" cy="502920"/>
          </a:xfrm>
          <a:prstGeom prst="roundRect">
            <a:avLst>
              <a:gd name="adj" fmla="val 9091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926080" y="468172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pipeline.py — orquestra os quatro e é o único ponto que conhece as fontes concretas</a:t>
            </a:r>
            <a:endParaRPr lang="en-US" sz="11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5349240"/>
          <a:ext cx="11064240" cy="914400"/>
        </p:xfrm>
        <a:graphic>
          <a:graphicData uri="http://schemas.openxmlformats.org/drawingml/2006/table">
            <a:tbl>
              <a:tblPr/>
              <a:tblGrid>
                <a:gridCol w="1475232"/>
                <a:gridCol w="3042666"/>
                <a:gridCol w="3042666"/>
                <a:gridCol w="3503676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Estágio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Roda quando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Treino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 sprint ou nova série de preços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Atributos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Regionais e modelo de preço, com métricas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cada planejamento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Modelos e tabelas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Custo, tempo e modal por trecho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ARQUITETURA E SOLID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cinco princípios SOLID, onde e por quê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princípio resolveu um problema concreto do código anterior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2028444"/>
                <a:gridCol w="2950464"/>
                <a:gridCol w="6085332"/>
              </a:tblGrid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Princípio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Problema que resolveu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 · Responsabilidade única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ingest, features, train, serve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Cada script numerado misturava leitura, transformação e cálculo. Mudar o Excel do Bacen mexia no mesmo arquivo que formava as regionais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· Aberto/fechado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Classes Modal e EstimadorPreco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Trem, ou um modelo de preço novo, entra como classe nova; comparar_modais não muda. Há teste provando isso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 · Substituição de Liskov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Três estimadores de preço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Baseline, efeito médio e Ridge são intercambiáveis: o treino avalia os três com a mesma função e escolhe o melhor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 · Segregação de interface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DataSource, EstimadorPreco, Modal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Interfaces de um a dois métodos: um teste cria uma implementação falsa em três linhas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 · Inversão de dependência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DataSource; Carro recebe o preço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Carga e treino não sabem se o dado vem de Excel, API ou memória. Só o pipeline.py escolhe a fonte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ARQUITETURA E SOLID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Inversão de Dependência na prática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exemplo DataSource que a Aula 5 pede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5394960" cy="3383280"/>
          </a:xfrm>
          <a:prstGeom prst="roundRect">
            <a:avLst>
              <a:gd name="adj" fmla="val 1351"/>
            </a:avLst>
          </a:prstGeom>
          <a:solidFill>
            <a:srgbClr val="1B2B3C"/>
          </a:solidFill>
          <a:ln w="12700">
            <a:solidFill>
              <a:srgbClr val="1B2B3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71907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7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ingest.py — a abstração e quem depende dela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103120"/>
            <a:ext cx="4983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DataSource(ABC):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@abstractmethod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load(self) -&gt; DataFrame: ...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carregar_agencias(fonte: DataSource):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df = limpar_texto(fonte.load())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exigir_colunas(df, COLUNAS, ...)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df[df.nome_instituicao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== "ITAÚ UNIBANCO S.A."]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17920" y="1600200"/>
            <a:ext cx="5394960" cy="3383280"/>
          </a:xfrm>
          <a:prstGeom prst="roundRect">
            <a:avLst>
              <a:gd name="adj" fmla="val 1351"/>
            </a:avLst>
          </a:prstGeom>
          <a:solidFill>
            <a:srgbClr val="1B2B3C"/>
          </a:solidFill>
          <a:ln w="12700">
            <a:solidFill>
              <a:srgbClr val="1B2B3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46520" y="171907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2C4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Duas fontes, a mesma função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2103120"/>
            <a:ext cx="4983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pipeline.py — produção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carregar_agencias(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ExcelSource("consolidada.xlsx",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"Agencias_Geocodificadas"))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tests/test_ingest.py — sem arquivo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carregar_agencias(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MemorySource(DataFrame([...])))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525780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541324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Trocar a planilha por uma API do Banco Central é escrever uma ApiBacenSource e mudar uma linha do pipeline.py. Treino e serving não mudam.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ARQUITETURA E SOLID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Pipeline validado: a mesma saída da versão anterior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4 da Aula 5 — e, no caminho, dois defeitos que estavam escondidos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5727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novo, com os defeitos antigos reativados</a:t>
            </a:r>
            <a:endParaRPr lang="en-US" sz="1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5394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463040"/>
                <a:gridCol w="15544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Indicador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Código novo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Agências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Regionais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Mediana / mín / máx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/ 4 / 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/ 4 / 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Coordenada de bairro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72,0%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72,0%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4114800"/>
            <a:ext cx="5394960" cy="685800"/>
          </a:xfrm>
          <a:prstGeom prst="roundRect">
            <a:avLst>
              <a:gd name="adj" fmla="val 6667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4224528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idêntico: toda diferença na versão final vem das correções ao lado.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17920" y="1572768"/>
            <a:ext cx="5394960" cy="1481328"/>
          </a:xfrm>
          <a:prstGeom prst="roundRect">
            <a:avLst>
              <a:gd name="adj" fmla="val 3086"/>
            </a:avLst>
          </a:prstGeom>
          <a:solidFill>
            <a:srgbClr val="FBECEA"/>
          </a:solidFill>
          <a:ln w="12700">
            <a:solidFill>
              <a:srgbClr val="EFC9C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46520" y="172821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A32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 de instituição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6446520" y="2048256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trecho "ITA" trazia 30 registros que não são agências, como "Trinus CAPITAL" e "Galapagos CAPITAL".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6446520" y="264261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Correção: Nome exato: 2.010 agências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217920" y="3236976"/>
            <a:ext cx="5394960" cy="1481328"/>
          </a:xfrm>
          <a:prstGeom prst="roundRect">
            <a:avLst>
              <a:gd name="adj" fmla="val 3086"/>
            </a:avLst>
          </a:prstGeom>
          <a:solidFill>
            <a:srgbClr val="FBECEA"/>
          </a:solidFill>
          <a:ln w="12700">
            <a:solidFill>
              <a:srgbClr val="EFC9C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46520" y="339242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A32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de abreviação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6446520" y="3712464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expansão de "S." para "SÃO" transformava "SANTA CATARINA" em "SAO ANTA CATARINA".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430682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Correção: Só expande palavra inteira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48640" y="512064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22960" y="527608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Versão final: 2.010 agências · 105 regionais · 74,7% com coordenada de bairro · 290 coordenadas descartadas pela regra dos 30 km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ARQUITETURA E SOLID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US11 verificada: o critério de métrica do modelo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Regressão Ridge do preço da gasolina por estado, com validação temporal sobre a série da ANP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50" dirty="0"/>
          </a:p>
        </p:txBody>
      </p:sp>
      <p:pic>
        <p:nvPicPr>
          <p:cNvPr id="6" name="Image 0" descr="/home/claude/projeto-varela/docs/img/erro_modelo_por_m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08760"/>
            <a:ext cx="6949440" cy="3337560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26680" y="1600200"/>
          <a:ext cx="3886200" cy="914400"/>
        </p:xfrm>
        <a:graphic>
          <a:graphicData uri="http://schemas.openxmlformats.org/drawingml/2006/table">
            <a:tbl>
              <a:tblPr/>
              <a:tblGrid>
                <a:gridCol w="2296391"/>
                <a:gridCol w="794905"/>
                <a:gridCol w="79490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Baseline: preço nacional único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0,199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Nacional + efeito do estado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0,115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0,154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Regressão Ridge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0,095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0,129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7726680" y="352044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por litro. MAE: erro absoluto médio. RMSE: raiz do erro quadrático médio, que pesa mais os erros grandes.</a:t>
            </a:r>
            <a:endParaRPr lang="en-US" sz="950" dirty="0"/>
          </a:p>
        </p:txBody>
      </p:sp>
      <p:sp>
        <p:nvSpPr>
          <p:cNvPr id="9" name="Shape 5"/>
          <p:cNvSpPr/>
          <p:nvPr/>
        </p:nvSpPr>
        <p:spPr>
          <a:xfrm>
            <a:off x="7726680" y="4206240"/>
            <a:ext cx="3886200" cy="640080"/>
          </a:xfrm>
          <a:prstGeom prst="roundRect">
            <a:avLst>
              <a:gd name="adj" fmla="val 7143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863840" y="436168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52% menos erro que o baseline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5029200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não embaralhar: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treino vai até dez/2019 e o teste começa em jan/2020. Embaralhar deixaria o modelo ver semanas futuras e inflaria o resultado.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Drift: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erro sobe no choque de preços da pandemia e chega ao pico em out/2020 — o princípio CACE da Aula 4 aparecendo nos dados.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Limitação: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série acaba em 2021; o produto aplica a diferença de cada estado sobre o preço nacional atual.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ARQUITETURA E SOLID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Testes, commits e pull request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Definição de pronto da Aula 5: módulos com SRP, inversão de dependência, pipeline validado e PR revisado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2606040" cy="1417320"/>
          </a:xfrm>
          <a:prstGeom prst="roundRect">
            <a:avLst>
              <a:gd name="adj" fmla="val 3226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7373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E7C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3317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com pytest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606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arquivo por módulo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55848" y="1600200"/>
            <a:ext cx="2606040" cy="1417320"/>
          </a:xfrm>
          <a:prstGeom prst="roundRect">
            <a:avLst>
              <a:gd name="adj" fmla="val 3226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84448" y="17373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E7C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3584448" y="23317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commits pequenos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584448" y="2606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por módulo, depois docs e revisão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63056" y="1600200"/>
            <a:ext cx="2606040" cy="1417320"/>
          </a:xfrm>
          <a:prstGeom prst="roundRect">
            <a:avLst>
              <a:gd name="adj" fmla="val 3226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91656" y="17373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7FC4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#15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6391656" y="23317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391656" y="2606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as Issues #10 e #11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970264" y="1600200"/>
            <a:ext cx="2606040" cy="1417320"/>
          </a:xfrm>
          <a:prstGeom prst="roundRect">
            <a:avLst>
              <a:gd name="adj" fmla="val 3226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198864" y="17373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E7C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s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9198864" y="23317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completo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9198864" y="2606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-m src.pipeline</a:t>
            </a:r>
            <a:endParaRPr lang="en-US" sz="10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291840"/>
          <a:ext cx="11064240" cy="914400"/>
        </p:xfrm>
        <a:graphic>
          <a:graphicData uri="http://schemas.openxmlformats.org/drawingml/2006/table">
            <a:tbl>
              <a:tblPr/>
              <a:tblGrid>
                <a:gridCol w="2212848"/>
                <a:gridCol w="6236208"/>
                <a:gridCol w="2615184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Arquivo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os testes garantem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Critério de aceite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test_ingest.py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Fonte em memória substitui o Excel; corretoras fora do recorte; preço fora de escala descartado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test_features.py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Mirandópolis a 530 km descartado; toda agência com coordenada; atributo sem vazamento do futuro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test_train.py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Nenhuma regional fura teto ou piso; MAE ≤ R$ 0,15 e 25% abaixo do baseline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US01, US11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test_serve.py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Avião indisponível abaixo de 150 km; peso no custo escolhe o mais barato; modal novo sem alterar código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US03, US05, US11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Shape 20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22960" y="577900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Revisão do Davi, 3 comentários: preço fixo no código (corrigido) · corte temporal (testado) · regra dos 30 km (virou a Issue #16).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3 · PLANEJAMENTO E RISCOS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WBS — Estrutura Analítica do Projeto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→ fases do CRISP-DM → entregáveis → pacotes de trabalho, cada um ligado a uma story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251960" y="1481328"/>
            <a:ext cx="3657600" cy="384048"/>
          </a:xfrm>
          <a:prstGeom prst="roundRect">
            <a:avLst>
              <a:gd name="adj" fmla="val 1190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251960" y="155448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Roteirização de Visitas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057400"/>
            <a:ext cx="1481328" cy="411480"/>
          </a:xfrm>
          <a:prstGeom prst="roundRect">
            <a:avLst>
              <a:gd name="adj" fmla="val 11111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13055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Negócio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606040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03504" y="2633472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 Definir persona e métricas · US07, US08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548640" y="3227832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3504" y="3255264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 Redigir e priorizar stories · todas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139696" y="2057400"/>
            <a:ext cx="1481328" cy="411480"/>
          </a:xfrm>
          <a:prstGeom prst="roundRect">
            <a:avLst>
              <a:gd name="adj" fmla="val 11111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139696" y="213055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Dados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139696" y="2606040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194560" y="2633472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 Avaliar a base do Bacen · US10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139696" y="3227832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194560" y="3255264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 Avaliar a série da ANP · US11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730752" y="2057400"/>
            <a:ext cx="1481328" cy="411480"/>
          </a:xfrm>
          <a:prstGeom prst="roundRect">
            <a:avLst>
              <a:gd name="adj" fmla="val 11111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730752" y="213055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Preparação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730752" y="2606040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785616" y="2633472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 Ingestão com DataSource · US10, US11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3730752" y="3227832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785616" y="3255264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 Escada de coordenadas · US10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730752" y="3849624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785616" y="3877056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 Validar desvio de 30 km · US10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730752" y="4471416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785616" y="4498848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 Atributos sem vazamento · US11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5321808" y="2057400"/>
            <a:ext cx="1481328" cy="411480"/>
          </a:xfrm>
          <a:prstGeom prst="roundRect">
            <a:avLst>
              <a:gd name="adj" fmla="val 11111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321808" y="213055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Modelagem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321808" y="2606040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376672" y="2633472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 K-means das regionais · US01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5321808" y="3227832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76672" y="3255264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 Modelos de preço · US11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5321808" y="3849624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376672" y="3877056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 Modais por trecho · US03, US05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5321808" y="4471416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376672" y="4498848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 Sequência provisória · US04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5321808" y="5093208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376672" y="5120640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 Sequência otimizada · US12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6912864" y="2057400"/>
            <a:ext cx="1481328" cy="411480"/>
          </a:xfrm>
          <a:prstGeom prst="roundRect">
            <a:avLst>
              <a:gd name="adj" fmla="val 11111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912864" y="213055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Avaliação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912864" y="2606040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967728" y="2633472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5.1 Modelo contra baseline · US11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6912864" y="3227832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967728" y="3255264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5.2 Cenário de referência · US08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6912864" y="3849624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967728" y="3877056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5.3 Totais e economia · US07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8503920" y="2057400"/>
            <a:ext cx="1481328" cy="411480"/>
          </a:xfrm>
          <a:prstGeom prst="roundRect">
            <a:avLst>
              <a:gd name="adj" fmla="val 11111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503920" y="213055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Entrega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8503920" y="2606040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558784" y="2633472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6.1 Seleção e restrições · US01, US02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8503920" y="3227832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558784" y="3255264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6.2 Objetivo com prévia · US03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8503920" y="3849624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8558784" y="3877056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6.3 Resultado e mapa · US05, US06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8503920" y="4471416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8558784" y="4498848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6.4 Salvar e exportar · US09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8503920" y="5093208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8558784" y="5120640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6.5 Painel · US13 · 6.6 Preços · US14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10094976" y="2057400"/>
            <a:ext cx="1481328" cy="411480"/>
          </a:xfrm>
          <a:prstGeom prst="roundRect">
            <a:avLst>
              <a:gd name="adj" fmla="val 11111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0094976" y="213055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Gestão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10094976" y="2606040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10149840" y="2633472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7.1 Planning Poker · todas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10094976" y="3227832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10149840" y="3255264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7.2 Revisar o PR · US10, US11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10094976" y="3849624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10149840" y="3877056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7.3 Revisar riscos · transversal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822960" y="600760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dos 100%: as 14 stories aparecem em algum pacote, e nenhum pacote existe sem story (exceto 7.3, transversal).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3 · PLANEJAMENTO E RISCOS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Estimativas e capacidade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Poker em Fibonacci, com a US01 valendo 3 pontos como referência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554480"/>
          <a:ext cx="69494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7818120" y="1600200"/>
            <a:ext cx="3794760" cy="822960"/>
          </a:xfrm>
          <a:prstGeom prst="roundRect">
            <a:avLst>
              <a:gd name="adj" fmla="val 5556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46720" y="171907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10058400" y="1719072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pessoas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818120" y="2560320"/>
            <a:ext cx="3794760" cy="822960"/>
          </a:xfrm>
          <a:prstGeom prst="roundRect">
            <a:avLst>
              <a:gd name="adj" fmla="val 5556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46720" y="267919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semanas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10058400" y="2679192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sprint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818120" y="3520440"/>
            <a:ext cx="3794760" cy="822960"/>
          </a:xfrm>
          <a:prstGeom prst="roundRect">
            <a:avLst>
              <a:gd name="adj" fmla="val 5556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46720" y="363931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7C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pontos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0058400" y="3639312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velocidade assumida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818120" y="4480560"/>
            <a:ext cx="3794760" cy="822960"/>
          </a:xfrm>
          <a:prstGeom prst="roundRect">
            <a:avLst>
              <a:gd name="adj" fmla="val 5556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046720" y="45994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 pontos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10058400" y="4599432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· 4 sprints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22960" y="577900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Divergências revotadas: US04 (3 a 8) · US09 (3 a 8, subiu para 5) · US11 (5 a 13) · US12 (8 e 13, escopo reduzido). Velocidade recalibrada ao fim da sprint.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3 · PLANEJAMENTO E RISCOS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de riscos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Exposição = probabilidade × impacto, de 1 a 3 cada · três riscos de dados e dois de modelo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7772400" cy="914400"/>
        </p:xfrm>
        <a:graphic>
          <a:graphicData uri="http://schemas.openxmlformats.org/drawingml/2006/table">
            <a:tbl>
              <a:tblPr/>
              <a:tblGrid>
                <a:gridCol w="476834"/>
                <a:gridCol w="3147107"/>
                <a:gridCol w="810618"/>
                <a:gridCol w="762935"/>
                <a:gridCol w="810618"/>
                <a:gridCol w="905985"/>
                <a:gridCol w="85830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Risco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Impacto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Resposta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Coordenada errada por colisão de nomes de bairro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327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Gabriel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Série da ANP termina em 2021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327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Luca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Prioridade e periodicidade não existem em base pública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327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327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Transferir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Victor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 de preço perde precisão num choque (drift)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Luca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Varredura gera rotas com ida e volta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327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Aceitar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Victor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Sprint 1 cheia para quem concilia provas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Prazo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Davi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Agenda do gerente seria dado pessoal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LGPD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327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Evitar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Gabriel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9144000" y="1965960"/>
            <a:ext cx="822960" cy="822960"/>
          </a:xfrm>
          <a:prstGeom prst="rect">
            <a:avLst/>
          </a:prstGeom>
          <a:solidFill>
            <a:srgbClr val="F6E3B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0012680" y="1965960"/>
            <a:ext cx="822960" cy="822960"/>
          </a:xfrm>
          <a:prstGeom prst="rect">
            <a:avLst/>
          </a:prstGeom>
          <a:solidFill>
            <a:srgbClr val="F3C7C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12680" y="22402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 R5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0881360" y="1965960"/>
            <a:ext cx="822960" cy="822960"/>
          </a:xfrm>
          <a:prstGeom prst="rect">
            <a:avLst/>
          </a:prstGeom>
          <a:solidFill>
            <a:srgbClr val="F3C7C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881360" y="22402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9144000" y="2834640"/>
            <a:ext cx="822960" cy="822960"/>
          </a:xfrm>
          <a:prstGeom prst="rect">
            <a:avLst/>
          </a:prstGeom>
          <a:solidFill>
            <a:srgbClr val="D7EDE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0012680" y="2834640"/>
            <a:ext cx="822960" cy="822960"/>
          </a:xfrm>
          <a:prstGeom prst="rect">
            <a:avLst/>
          </a:prstGeom>
          <a:solidFill>
            <a:srgbClr val="F6E3B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012680" y="31089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 R6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10881360" y="2834640"/>
            <a:ext cx="822960" cy="822960"/>
          </a:xfrm>
          <a:prstGeom prst="rect">
            <a:avLst/>
          </a:prstGeom>
          <a:solidFill>
            <a:srgbClr val="F3C7C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881360" y="31089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9144000" y="3703320"/>
            <a:ext cx="822960" cy="822960"/>
          </a:xfrm>
          <a:prstGeom prst="rect">
            <a:avLst/>
          </a:prstGeom>
          <a:solidFill>
            <a:srgbClr val="D7EDE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0012680" y="3703320"/>
            <a:ext cx="822960" cy="822960"/>
          </a:xfrm>
          <a:prstGeom prst="rect">
            <a:avLst/>
          </a:prstGeom>
          <a:solidFill>
            <a:srgbClr val="D7EDE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0881360" y="3703320"/>
            <a:ext cx="822960" cy="822960"/>
          </a:xfrm>
          <a:prstGeom prst="rect">
            <a:avLst/>
          </a:prstGeom>
          <a:solidFill>
            <a:srgbClr val="F6E3B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881360" y="39776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8458200" y="2267712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8458200" y="3136392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Média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8458200" y="4005072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Baixa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9144000" y="4599432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Baixo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10012680" y="4599432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Médio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10881360" y="4599432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9144000" y="164592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PROBABILIDADE ↑   IMPACTO →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22960" y="577900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um é dono dos riscos da sua frente: Gabriel (agências), Luca (modelo), Victor (negócio e rota), Davi (prazo). Revisão a cada sprint.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3 · PLANEJAMENTO E RISCOS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da Sprint 1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Meta: transformar a base de agências e o custo de deslocamento num pipeline modular e testado, com o preço por estado validado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6949440" cy="914400"/>
        </p:xfrm>
        <a:graphic>
          <a:graphicData uri="http://schemas.openxmlformats.org/drawingml/2006/table">
            <a:tbl>
              <a:tblPr/>
              <a:tblGrid>
                <a:gridCol w="2902931"/>
                <a:gridCol w="791708"/>
                <a:gridCol w="1319514"/>
                <a:gridCol w="879676"/>
                <a:gridCol w="1055611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Pontos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Pacotes da WBS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Situação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US10 · Agências no lugar certo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3.1, 3.2, 3.3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Gabriel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US11 · Preço por estado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3.4, 4.2, 5.1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Luca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US05 · Modal por trecho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Victor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Testes e pull request revisado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7.1, 7.2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Davi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 de 20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7818120" y="173736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Definição de pronto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7818120" y="2103120"/>
            <a:ext cx="3794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de aceite verificado, de preferência por teste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no módulo da sua responsabilidade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revisado por outro integrante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roda de ponta a ponta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18120" y="388620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Riscos monitorados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7818120" y="420624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R1, R2, R4 e R6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525780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" y="541324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estas stories: a interface da Onda 1 já existe no protótipo. A Sprint 1 ataca o que sustenta os números que ele mostra.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ENCERRAMENTO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Entregáveis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vai para avaliação e onde cada story da Onda 1 já está navegável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6766560" cy="640080"/>
          </a:xfrm>
          <a:prstGeom prst="roundRect">
            <a:avLst>
              <a:gd name="adj" fmla="val 714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17830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US01, US02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2514600" y="16916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Seleção de agências por regional, com origem, período e trava de viabilidade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350008"/>
            <a:ext cx="6766560" cy="640080"/>
          </a:xfrm>
          <a:prstGeom prst="roundRect">
            <a:avLst>
              <a:gd name="adj" fmla="val 714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49808" y="253288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US03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514600" y="244144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custo, tempo ou equilíbrio, com prévia no trecho mais longo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099816"/>
            <a:ext cx="6766560" cy="640080"/>
          </a:xfrm>
          <a:prstGeom prst="roundRect">
            <a:avLst>
              <a:gd name="adj" fmla="val 714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49808" y="32826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US04, US05, US06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2514600" y="3191256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Itinerário por dia, modal por trecho e detalhe com as três alternativas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3849624"/>
            <a:ext cx="6766560" cy="640080"/>
          </a:xfrm>
          <a:prstGeom prst="roundRect">
            <a:avLst>
              <a:gd name="adj" fmla="val 714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49808" y="40325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US07, US08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2514600" y="394106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Totais, economia e comparação com o cenário de referência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4599432"/>
            <a:ext cx="6766560" cy="640080"/>
          </a:xfrm>
          <a:prstGeom prst="roundRect">
            <a:avLst>
              <a:gd name="adj" fmla="val 714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49808" y="478231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US09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2514600" y="469087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Salvar, reabrir e exportar o planejamento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589520" y="1600200"/>
            <a:ext cx="4023360" cy="3657600"/>
          </a:xfrm>
          <a:prstGeom prst="roundRect">
            <a:avLst>
              <a:gd name="adj" fmla="val 1250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818120" y="1783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Entregáveis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818120" y="2240280"/>
            <a:ext cx="3657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7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Repositório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github.com/davi-cassiano/Projeto-Varela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7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 revisado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github.com/davi-cassiano/Projeto-Varela/pull/15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7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 #1 a #14 · quadro em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github.com/users/davi-cassiano/projects/1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7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docs/backlog.md · arquitetura.md · planejamento.md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2960" y="577900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 passo: Sprint 2 valida as stories de interface com um gerente real. A otimização da rota (US12) entra na Sprint 3.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Sistema de Roteirização de Visitas — Checkpoint Aulas 4 a 6</dc:title>
  <dc:subject>PptxGenJS Presentation</dc:subject>
  <dc:creator>PptxGenJS</dc:creator>
  <cp:lastModifiedBy>PptxGenJS</cp:lastModifiedBy>
  <cp:revision>1</cp:revision>
  <dcterms:created xsi:type="dcterms:W3CDTF">2026-10-15T21:37:49Z</dcterms:created>
  <dcterms:modified xsi:type="dcterms:W3CDTF">2026-10-15T21:37:49Z</dcterms:modified>
</cp:coreProperties>
</file>