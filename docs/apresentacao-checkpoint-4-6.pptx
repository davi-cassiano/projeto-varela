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Pontos</c:v>
                </c:pt>
              </c:strCache>
            </c:strRef>
          </c:tx>
          <c:spPr>
            <a:solidFill>
              <a:srgbClr val="2E6F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US01</c:v>
                  </c:pt>
                  <c:pt idx="1">
                    <c:v>US02</c:v>
                  </c:pt>
                  <c:pt idx="2">
                    <c:v>US03</c:v>
                  </c:pt>
                  <c:pt idx="3">
                    <c:v>US04</c:v>
                  </c:pt>
                  <c:pt idx="4">
                    <c:v>US05</c:v>
                  </c:pt>
                  <c:pt idx="5">
                    <c:v>US06</c:v>
                  </c:pt>
                  <c:pt idx="6">
                    <c:v>US07</c:v>
                  </c:pt>
                  <c:pt idx="7">
                    <c:v>US08</c:v>
                  </c:pt>
                  <c:pt idx="8">
                    <c:v>US09</c:v>
                  </c:pt>
                  <c:pt idx="9">
                    <c:v>US10</c:v>
                  </c:pt>
                  <c:pt idx="10">
                    <c:v>US11</c:v>
                  </c:pt>
                  <c:pt idx="11">
                    <c:v>US12</c:v>
                  </c:pt>
                  <c:pt idx="12">
                    <c:v>US13</c:v>
                  </c:pt>
                  <c:pt idx="13">
                    <c:v>US14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8</c:v>
                </c:pt>
                <c:pt idx="11">
                  <c:v>8</c:v>
                </c:pt>
                <c:pt idx="12">
                  <c:v>3</c:v>
                </c:pt>
                <c:pt idx="1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226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.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checkpoint não é um trabalho novo: é o mesmo produto do Canvas MVP ganhando backlog, arquitetura e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nada foi criado do zero: o backlog nasce do Canvas, a arquitetura implementa as stories e o plano organiza o trabalho sobre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provável é por que dados e modelo não estão no topo. Resposta: eles são pré-requisito técnico, mas sozinhos não entregam valor ao Rafael.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é uma Issue no GitHub, com o mesmo número: a US05 é a Issue #5.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viraram teste automático. Se alguém perguntar como validar, a resposta é: rode python -m pytest.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INVEST todo aprovado levanta suspeita de que ninguém revisou. Mostrar as ressalvas é mostrar que a revisão aconteceu.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não funcionais de ML da Aula 4 estão aqui: desempenho do modelo, drift, explicabilidade e LGPD.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requisito de qualidade foi o que mais rendeu: foi validando-o que encontramos os dois defeitos da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estágios da Aula 5 têm ciclos de vida diferentes. A preparação ficou separada da ingestão porque muda por motivo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só der tempo de explicar um, explicar o D, que é o que o PDF pede nominalmente. O próximo slide mostra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teste test_fonte_em_memoria_substitui_o_excel é a prova executável de que a inversão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Aula 5 pede para comparar a saída com a versão anterior. Reativar os defeitos isolou o efeito da reorganização do efeito das correções.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baseline é o que o sistema fazia antes: o mesmo preço para o Brasil inteiro. Por isso a comparação é honesta.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PR aberto no navegador, na aba Files changed, com os comentários de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Nível 3, os entregáveis, está no documento docs/planejamento.md. No slide ficou o nível 2 e o 4, que é onde mora a rastreabilidade.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US04: o 3 via só ordenar; o 8 lembrou de quebrar em dias com teto e janela → 5. US09: reabrir planejamento antigo com base alterada → 5, com aviso em vez de reconciliar. US11: 13 pela incerteza; baseline já medido fechou em 8. US12: empate 8/13; escopo limitado a vizinho mais próximo + 2-opt para caber em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 é o único vermelho de nota 9. Ele se resolve com a área de negócio, por isso a resposta é transferir.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escolha honestamente: não faria sentido planejar construir de novo telas que já existem.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houver tempo, abrir o protótipo e mostrar uma jornada. Se não, este slide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 GESTÃO DE DADOS · CCD610 · CHECKPOINT DAS AULAS 4, 5 E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Roteirização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Visitas às Agências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Canvas MVP ao plano da Sprint 1: requisitos, arquitetura e planejamento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2743200" cy="0"/>
          </a:xfrm>
          <a:prstGeom prst="line">
            <a:avLst/>
          </a:prstGeom>
          <a:noFill/>
          <a:ln w="31750">
            <a:solidFill>
              <a:srgbClr val="0E7C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14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Cassiano · Gabriel Felipe · Luca Juraski · Victor Meneguin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54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 github.com/users/davi-cassiano/projects/1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produto, amadurecendo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recebe a saída da anterior — é a regra de rastreabilidade do checkpoint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Canvas MVP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Rafael, 8 funcionalidades na Onda 1, métricas de validação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55848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57016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épicos, 14 user stories, critérios de aceite, INVEST e requisitos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61888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features, train e serve, SOLID, 23 testes, pull request #15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69096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70264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em 4 níveis, estimativas, 7 riscos e Sprint 1 com 19 de 20 pontos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rastreabilidade de ponta a ponta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Canvas: recomendar modal por trecho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798064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07792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US05 · Issue #5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855464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47488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7216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serve.py · classes Carro, Ônibus, Avião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104888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296912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0664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4.3 · Sprint 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54312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546336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656064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test_serve.py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8704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pediu foco: o protótipo de interface agora é só evidência. O centro desta entrega são os documentos das Aulas 4, 5 e 6.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Épicos e critério de priorização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épicos agrupam as funcionalidades da Onda 1 do Canvas MVP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do planejamento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agências, informar origem, período e restrições, escolher o objetivo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 · US02 · US03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2764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da rota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2764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visitas, modal por trecho, distância, tempo e custo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 · US05 · US06 · US12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planejamento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economia, cenário de referência e registro do roteiro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 · US08 · US09 · US13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2764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modelos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32764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confiável e preço de combustível por estado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2764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US11 · US14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434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priorização: valor para a hipótese do MVP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00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Primeiro o que testa a hipótese de ponta a ponta (US01 a US08) — sem a jornada completa não se mede economia.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Depois o que dá confiança ao resultado (US10 e US11) — antes na construção, depois na ordem de valor.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Por último o que torna o uso recorrente (US09). Onda 2 só depois de validar a hipótese.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 técnica não foi critério, como pede a Aula 4. Dependência técnica só desempata.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Backlog: 14 user stories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Persona: Rafael Menezes, gerente regional · todas registradas como Issues no GitHub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64240" cy="914400"/>
        </p:xfrm>
        <a:graphic>
          <a:graphicData uri="http://schemas.openxmlformats.org/drawingml/2006/table">
            <a:tbl>
              <a:tblPr/>
              <a:tblGrid>
                <a:gridCol w="979136"/>
                <a:gridCol w="6853954"/>
                <a:gridCol w="881223"/>
                <a:gridCol w="1272877"/>
                <a:gridCol w="107705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Rafael, quero…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Épico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as agências da minha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o objetivo da rota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a sequência de visitas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qual transporte usar em cada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detalhe de cada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custo total e a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o que eu faria sem o sistema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 e exportar o planejamento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no lugar certo do mapa · story de 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do combustível do estado · story de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Sequência otimizada de visitas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Painel consolidado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 atualizados automaticamente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fechados no Planning Poker. Onda 1: 42 pontos · Onda 2: 16 pontos · total 58.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stories que o checkpoint exige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com critério de métrica de dados, uma com critério de métrica do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1778508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24228"/>
            <a:ext cx="17785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story de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cada agência esteja na posição correta e que eu saiba quando ela é aproximada, para confiar nas distâncias.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2.010 agências, que na base do Bacen não têm coordenada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de ingestão e preparação roda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têm ao menos coordenada de município, pelo menos 70% têm de bairro, e nenhuma fica a mais de 30 km do centro do município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74,7% com bairro · 290 descartadas pela regra dos 30 km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783080"/>
            <a:ext cx="1856232" cy="256032"/>
          </a:xfrm>
          <a:prstGeom prst="roundRect">
            <a:avLst>
              <a:gd name="adj" fmla="val 14286"/>
            </a:avLst>
          </a:prstGeom>
          <a:solidFill>
            <a:srgbClr val="0E7C66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4228"/>
            <a:ext cx="1856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story de modelo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o custo de carro use o preço do combustível do estado, para que a estimativa reflita a região.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semanal da ANP por estado, treino até dez/2019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é avaliado em 2020–2021, que não viu no treino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médio é de no máximo R$ 0,15/L e fica 25% abaixo do baseline nacional (R$ 0,20/L)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5508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9224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R$ 0,095/L · 52% abaixo do baseline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INVEST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· Negotiable · Valuable · Estimable · Small · Testable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das 14 stories passaram nas seis letras. As outras quatro têm a ressalva registrada, em vez de um checklist todo verde.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1034041"/>
                <a:gridCol w="1240849"/>
                <a:gridCol w="878935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Ressalva e tratamento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Precisa de uma seleção de agências como entrada; testável isoladamente com uma lista fixa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Exibe o que a US05 calcula; a dependência é de dado, não de entrega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é experimento; o baseline medido antes de estimar reduziu a incerteza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não caber numa sprint; se o Poker passar de 8 pontos, dividir em heurística e refinamento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I, 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fonte com publicação automatizada; avaliar a fonte antes de estimar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story precisou ser reescrita. As ressalvas voltam na mesa no Planning Poker.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funcionais e não funcionais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requisito aponta para as stories que o realizam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679269"/>
                <a:gridCol w="3566160"/>
                <a:gridCol w="110381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e filtrar agências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origem, período, janela e modais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Bloquear quando a agenda não comporta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Objetivo: custo, tempo ou peso ajustável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distribuída em dias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um modal por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trecho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totais, diárias e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o cenário de referência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Salvar, reabrir e exportar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54480"/>
          <a:ext cx="5440680" cy="914400"/>
        </p:xfrm>
        <a:graphic>
          <a:graphicData uri="http://schemas.openxmlformats.org/drawingml/2006/table">
            <a:tbl>
              <a:tblPr/>
              <a:tblGrid>
                <a:gridCol w="770763"/>
                <a:gridCol w="1405509"/>
                <a:gridCol w="3264408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40 agências em no máximo 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 sem internet e sem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modal mostra motivo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 simulado sempre identificado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do preço até R$ 0,15/L (US11)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Reavaliar a cada atualização; alerta acima de R$ 0,25/L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Reprodutibilidade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Mesma entrada, mesma saída (sementes fixas)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 dado pessoal no MVP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de dados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tipo de requisito, que só existe em projetos de ML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9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9164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agências do Banco Central (posição 29/11/2024) · série semanal de preços da ANP (2004–2021) · bases públicas de municípios e bairros · base consolidada do grupo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715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5877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16.552 agências no país, 2.010 no recorte Itaú Unibanco · 23.570 registros de gasolina comum em 27 estados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483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 para 100% das agências · bairro validado contra o município (até 30 km) · texto padronizado · preços fora de escala descartados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07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37997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a cada publicação do Bacen · preços semanais na fonte, mas a série disponível para em maio/2021 — limitação tratada pela US11 e pela US14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157216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BF0DF"/>
          </a:solidFill>
          <a:ln w="12700">
            <a:solidFill>
              <a:srgbClr val="EBD9B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4041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e LGPD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527608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públicas, de pessoa jurídica. Prioridade e prazo de visita são simulados por não existirem em base pública. Em produção, agenda e histórico do gerente seriam dados pessoais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de referência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Ingestão, preparação, treino e serving — um módulo por responsabilidade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· Bacen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· ANP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5661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Municípios, bairros, estados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8892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ingest.py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 (abstração)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e validar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3347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features.py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em 3 níveis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do modelo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9943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2084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train.py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3056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das regionais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do preço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6539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serve.py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modais e custo por trecho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estado, pacote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3135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652760" y="2377440"/>
            <a:ext cx="960120" cy="1371600"/>
          </a:xfrm>
          <a:prstGeom prst="roundRect">
            <a:avLst>
              <a:gd name="adj" fmla="val 4762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52760" y="2377440"/>
            <a:ext cx="960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49731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88920" y="457200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26080" y="4681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 — orquestra os quatro e é o único ponto que conhece as fontes concretas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49240"/>
          <a:ext cx="11064240" cy="914400"/>
        </p:xfrm>
        <a:graphic>
          <a:graphicData uri="http://schemas.openxmlformats.org/drawingml/2006/table">
            <a:tbl>
              <a:tblPr/>
              <a:tblGrid>
                <a:gridCol w="1475232"/>
                <a:gridCol w="3042666"/>
                <a:gridCol w="3042666"/>
                <a:gridCol w="350367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Estágio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 quando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sprint ou nova série de preços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 e modelo de preço, com métricas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Modelos e tabelas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Custo, tempo e modal por trecho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princípios SOLID, onde e por quê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princípio resolveu um problema concreto do código anterior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028444"/>
                <a:gridCol w="2950464"/>
                <a:gridCol w="608533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Princípio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que resolveu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· Responsabilidade única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ingest, features, train, serve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script numerado misturava leitura, transformação e cálculo. Mudar o Excel do Bacen mexia no mesmo arquivo que formava as regionais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· Aberto/fechado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Modal e EstimadorPreco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Trem, ou um modelo de preço novo, entra como classe nova; comparar_modais não muda. Há teste provando isso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· Substituição de Liskov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estimadores de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efeito médio e Ridge são intercambiáveis: o treino avalia os três com a mesma função e escolhe o melhor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· Segregação de interface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DataSource, EstimadorPreco, Modal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 de um a dois métodos: um teste cria uma implementação falsa em três linhas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· Inversão de dependência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DataSource; Carro recebe o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e treino não sabem se o dado vem de Excel, API ou memória. Só o pipeline.py escolhe a fonte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Inversão de Dependência na prática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DataSource que a Aula 5 pede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 — a abstração e quem depende dela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DataSource(ABC):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@abstractmethod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load(self) -&gt; DataFrame: 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carregar_agencias(fonte: DataSource):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 = limpar_texto(fonte.load())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exigir_colunas(df, COLUNAS, 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df[df.nome_instituicao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== "ITAÚ UNIBANCO S.A."]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C4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fontes, a mesma função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pipeline.py — produção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ExcelSource("consolidada.xlsx",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"Agencias_Geocodificadas"))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tests/test_ingest.py — sem arquivo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MemorySource(DataFrame([...])))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a planilha por uma API do Banco Central é escrever uma ApiBacenSource e mudar uma linha do pipeline.py. Treino e serving não mudam.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refatoração preservou o comportamento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no caminho, encontrou dois defeitos que estavam escondidos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novo, com os defeitos antigos reativados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novo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/ mín / máx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de bairro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14800"/>
            <a:ext cx="5394960" cy="685800"/>
          </a:xfrm>
          <a:prstGeom prst="roundRect">
            <a:avLst>
              <a:gd name="adj" fmla="val 6667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224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idêntico: toda diferença na versão final vem das correções ao lado.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572768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7282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instituição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048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trecho "ITA" trazia 30 registros que não são agências, como "Trinus CAPITAL" e "Galapagos CAPITAL".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6426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Nome exato: 2.010 agências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17920" y="3236976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3924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abreviação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37124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de "S." para "SÃO" transformava "SANTA CATARINA" em "SAO ANTA CATARINA".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3068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Só expande palavra inteira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27608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final: 2.010 agências · 105 regionais · 74,7% com coordenada de bairro · 290 coordenadas descartadas pela regra dos 30 km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supervisionado: preço da gasolina por estado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regressão Ridge com validação temporal sobre a série real da ANP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pic>
        <p:nvPicPr>
          <p:cNvPr id="6" name="Image 0" descr="/home/claude/projeto-varela/docs/img/erro_modelo_por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333756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600200"/>
          <a:ext cx="3886200" cy="914400"/>
        </p:xfrm>
        <a:graphic>
          <a:graphicData uri="http://schemas.openxmlformats.org/drawingml/2006/table">
            <a:tbl>
              <a:tblPr/>
              <a:tblGrid>
                <a:gridCol w="2296391"/>
                <a:gridCol w="794905"/>
                <a:gridCol w="7949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Baseline: preço nacional único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+ efeito do 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 Ridge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726680" y="352044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por litro. MAE: erro absoluto médio. RMSE: raiz do erro quadrático médio, que pesa mais os erros grandes.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7726680" y="4206240"/>
            <a:ext cx="3886200" cy="640080"/>
          </a:xfrm>
          <a:prstGeom prst="roundRect">
            <a:avLst>
              <a:gd name="adj" fmla="val 714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4361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menos erro que o baseline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embaralhar: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treino vai até dez/2019 e o teste começa em jan/2020. Embaralhar deixaria o modelo ver semanas futuras e inflaria o resultado.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sobe no choque de preços da pandemia e chega ao pico em out/2020 — o princípio CACE da Aula 4 aparecendo nos dados.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acaba em 2021; o produto aplica a diferença de cada estado sobre o preço nacional atual.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Testes, commits e pull request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 da Aula 5: módulos com SRP, inversão de dependência, pipeline validado e PR revisado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com pytest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arquivo por módulo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448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atômicos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módulo reorganizado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#15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as Issues #10 e #11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70264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98864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7,6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98864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src.pipeline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6424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6236208"/>
                <a:gridCol w="261518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os testes garantem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aceite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test_ingest.py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 em memória substitui o Excel; corretoras fora do recorte; preço fora de escala descartado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test_features.py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Mirandópolis a 530 km descartado; toda agência com coordenada; atributo sem vazamento do futuro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test_train.py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regional fura teto ou piso; MAE ≤ R$ 0,15 e 25% abaixo do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test_serve.py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Avião indisponível abaixo de 150 km; peso no custo escolhe o mais barato; modal novo sem alterar código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US03, US05,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Davi, 3 comentários: preço fixo no código (corrigido) · corte temporal (testado) · regra dos 30 km (virou a Issue #16).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WBS — Estrutura Analítica do Projeto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→ fases do CRISP-DM → entregáveis → pacotes de trabalho, cada um ligado a uma story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251960" y="1481328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51960" y="1554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Roteirização de Visitas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Negócio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Definir persona e métricas · US07, US08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Redigir e priorizar stories · todas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3969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3969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3969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Avaliar a base do Bacen · US10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3969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Avaliar a série da ANP · US11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30752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30752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Preparação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30752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85616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Ingestão com DataSource · US10, US11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30752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85616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Escada de coordenadas · US10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30752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85616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Validar desvio de 30 km · US10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30752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85616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Atributos sem vazamento · US11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321808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21808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Modelagem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21808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76672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K-means das regionais · US01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321808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76672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Modelos de preço · US11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321808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376672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Modais por trecho · US03, US05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321808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76672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Sequência provisória · US04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321808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76672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Sequência otimizada · US12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912864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912864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Avaliação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12864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67728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Modelo contra baseline · US11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912864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Cenário de referência · US08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912864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967728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Totais e economia · US07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50392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50392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Entrega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55878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Seleção e restrições · US01, US02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50392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55878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Objetivo com prévia · US03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503920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558784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Resultado e mapa · US05, US06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503920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8784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Salvar e exportar · US09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03920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558784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Painel · US13 · 6.6 Preços · US14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09497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9497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Gestão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1009497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14984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 Planning Poker · todas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009497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014984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Revisar o PR · US10, US11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0094976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149840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 Revisar riscos · transversal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22960" y="6007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dos 100%: as 14 stories aparecem em algum pacote, e nenhum pacote existe sem story (exceto 7.3, transversal).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Estimativas e capacidade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Poker em Fibonacci, com a US01 valendo 3 pontos como referência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5448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818120" y="16002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17190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719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256032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0" y="26791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semanas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791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sprint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18120" y="352044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36393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pontos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36393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assumida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448056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4599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 pontos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0" y="45994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· 4 sprints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Divergências revotadas: US04 (3 a 8) · US09 (3 a 8, subiu para 5) · US11 (5 a 13) · US12 (8 e 13, escopo reduzido). Velocidade recalibrada ao fim 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riscos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= probabilidade × impacto, de 1 a 3 cada · três riscos de dados e dois de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406640" cy="914400"/>
        </p:xfrm>
        <a:graphic>
          <a:graphicData uri="http://schemas.openxmlformats.org/drawingml/2006/table">
            <a:tbl>
              <a:tblPr/>
              <a:tblGrid>
                <a:gridCol w="525633"/>
                <a:gridCol w="3344934"/>
                <a:gridCol w="860126"/>
                <a:gridCol w="812341"/>
                <a:gridCol w="812341"/>
                <a:gridCol w="105126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errada por colisão de nomes de bairro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Série da ANP termina em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Prioridade e periodicidade não existem em base pública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preço perde precisão num choque (drift)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Varredura gera rotas com ida e volta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cheia para quem concilia provas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do gerente seria dado pessoal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LGPD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9006840" y="196596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87552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87552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R5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74420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74420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006840" y="283464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75520" y="283464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87552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R6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744200" y="283464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74420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00684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87552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744200" y="370332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744200" y="3977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321040" y="22677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3136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0050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900684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87552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1074420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16459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 ↑   IMPACTO →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Responsáveis: R1 a R7 com um dono cada no docs/planejamento.md. Matriz revisada a cada sprint (pacote 7.3).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da Sprint 1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transformar a base de agências e o custo de deslocamento num pipeline modular e testado, com o preço por estado validado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822960"/>
                <a:gridCol w="1554480"/>
                <a:gridCol w="1280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Pacotes da WBS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 · Agências no lugar certo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3.1, 3.2, 3.3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 · Preço por estado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3.4, 4.2, 5.1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 · Modal por trecho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 e pull request revisado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7.1, 7.2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de 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18120" y="17373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03120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 verificado, de preferência por teste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 módulo da sua responsabilidade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revisado por outro integrante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roda de ponta a ponta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38862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monitorados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2062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R1, R2, R4 e R6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estas stories: a interface da Onda 1 já existe no protótipo. A Sprint 1 ataca o que sustenta os números que ele mostra.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protótipo como evidência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stories de interface da Onda 1 estão navegáveis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US01, US02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agências por regional, com origem, período e trava de viabilidade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532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US03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414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custo, tempo ou equilíbrio, com prévia no trecho mais longo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2826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US04, US05, US06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31912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Itinerário por dia, modal por trecho e detalhe com as três alternativas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49624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US07, US08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9410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 e comparação com o cenário de referência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99432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782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US09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4690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reabrir e exportar o planejamento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600200"/>
            <a:ext cx="4023360" cy="3657600"/>
          </a:xfrm>
          <a:prstGeom prst="roundRect">
            <a:avLst>
              <a:gd name="adj" fmla="val 1250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1812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24028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revisado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github.com/users/davi-cassiano/projects/1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docs/backlog.md · arquitetura.md · planejamento.md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Sprint 2 valida as stories de interface com um gerente real. A otimização da rota (US12) entra na Sprint 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Roteirização de Visitas — Checkpoint Aulas 4 a 6</dc:title>
  <dc:subject>PptxGenJS Presentation</dc:subject>
  <dc:creator>PptxGenJS</dc:creator>
  <cp:lastModifiedBy>PptxGenJS</cp:lastModifiedBy>
  <cp:revision>1</cp:revision>
  <dcterms:created xsi:type="dcterms:W3CDTF">2026-10-15T21:08:51Z</dcterms:created>
  <dcterms:modified xsi:type="dcterms:W3CDTF">2026-10-15T21:08:51Z</dcterms:modified>
</cp:coreProperties>
</file>