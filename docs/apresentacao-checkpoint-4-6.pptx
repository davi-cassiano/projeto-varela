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charts/chart1.xml" ContentType="application/vnd.openxmlformats-officedocument.drawingml.chart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Pontos</c:v>
                </c:pt>
              </c:strCache>
            </c:strRef>
          </c:tx>
          <c:spPr>
            <a:solidFill>
              <a:srgbClr val="2E6FA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2263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Sheet1!$A$2:$A$15</c:f>
              <c:multiLvlStrCache>
                <c:ptCount val="14"/>
                <c:lvl>
                  <c:pt idx="0">
                    <c:v>US01</c:v>
                  </c:pt>
                  <c:pt idx="1">
                    <c:v>US02</c:v>
                  </c:pt>
                  <c:pt idx="2">
                    <c:v>US03</c:v>
                  </c:pt>
                  <c:pt idx="3">
                    <c:v>US04</c:v>
                  </c:pt>
                  <c:pt idx="4">
                    <c:v>US05</c:v>
                  </c:pt>
                  <c:pt idx="5">
                    <c:v>US06</c:v>
                  </c:pt>
                  <c:pt idx="6">
                    <c:v>US07</c:v>
                  </c:pt>
                  <c:pt idx="7">
                    <c:v>US08</c:v>
                  </c:pt>
                  <c:pt idx="8">
                    <c:v>US09</c:v>
                  </c:pt>
                  <c:pt idx="9">
                    <c:v>US10</c:v>
                  </c:pt>
                  <c:pt idx="10">
                    <c:v>US11</c:v>
                  </c:pt>
                  <c:pt idx="11">
                    <c:v>US12</c:v>
                  </c:pt>
                  <c:pt idx="12">
                    <c:v>US13</c:v>
                  </c:pt>
                  <c:pt idx="13">
                    <c:v>US14</c:v>
                  </c:pt>
                </c:lvl>
              </c:multiLvlStrCache>
            </c:multiLvlStrRef>
          </c:cat>
          <c:val>
            <c:numRef>
              <c:f>Sheet1!$B$2:$B$15</c:f>
              <c:numCache>
                <c:formatCode>General</c:formatCode>
                <c:ptCount val="14"/>
                <c:pt idx="0">
                  <c:v>3</c:v>
                </c:pt>
                <c:pt idx="1">
                  <c:v>3</c:v>
                </c:pt>
                <c:pt idx="2">
                  <c:v>2</c:v>
                </c:pt>
                <c:pt idx="3">
                  <c:v>5</c:v>
                </c:pt>
                <c:pt idx="4">
                  <c:v>3</c:v>
                </c:pt>
                <c:pt idx="5">
                  <c:v>3</c:v>
                </c:pt>
                <c:pt idx="6">
                  <c:v>2</c:v>
                </c:pt>
                <c:pt idx="7">
                  <c:v>3</c:v>
                </c:pt>
                <c:pt idx="8">
                  <c:v>5</c:v>
                </c:pt>
                <c:pt idx="9">
                  <c:v>5</c:v>
                </c:pt>
                <c:pt idx="10">
                  <c:v>8</c:v>
                </c:pt>
                <c:pt idx="11">
                  <c:v>8</c:v>
                </c:pt>
                <c:pt idx="12">
                  <c:v>3</c:v>
                </c:pt>
                <c:pt idx="13">
                  <c:v>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12263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12263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9.5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QUEM: Gabriel · TEMPO: 30 s
O QUE DIZER
"Boa noite. Somos o grupo do Sistema de Roteirização de Visitas às Agências: Davi, Gabriel, Luca e Victor. Este é o checkpoint das Aulas 4, 5 e 6. Não é um trabalho novo: é o mesmo produto do Canvas MVP ganhando backlog, arquitetura e plano de sprint. Tudo o que vamos mostrar está no repositório, no pull request 15 e no quadro do GitHub, que estão nos links da capa."
NÃO FAZER
Não ler os links em voz alta. Não explicar o protótipo aqui.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QUEM: Gabriel · TEMPO: 1 min
O QUE DIZER
"O checkpoint tem uma regra de rastreabilidade: cada etapa recebe a saída da anterior. Na Aula 3 saiu o Canvas, com a persona Rafael e as 8 funcionalidades da Onda 1. Na Aula 4 essas funcionalidades viraram 4 épicos e 14 user stories. Na Aula 5 as stories viraram quatro módulos de código, com 23 testes e um pull request revisado. Na Aula 6 isso virou uma WBS, estimativas, 7 riscos e a Sprint 1."
Apontar a linha de baixo: "Um exemplo de ponta a ponta: a funcionalidade 'recomendar modal por trecho' do Canvas virou a US05, que é a Issue 5; ela está implementada nas classes Carro, Ônibus e Avião do serve.py; é o pacote 4.3 da WBS, entrou na Sprint 1, e tem teste automático."
Fechar com a faixa: "O protótipo de interface do checkpoint anterior aparece só como evidência. O centro desta entrega são os três documentos: backlog, arquitetura e plano."
PERGUNTA PROVÁVEL
"Por que falar de protótipo então?" → Porque as stories de interface da Onda 1 já existem nele; o plano de sprints parte disso.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QUEM: Gabriel · TEMPO: 1 min 30
O QUE DIZER
"Agrupamos as funcionalidades da Onda 1 em quatro épicos. E1 é montar o planejamento: selecionar agências, informar origem, período, restrições e objetivo. E2 é a recomendação: sequência, modal por trecho, detalhe. E3 é a avaliação: totais, economia, comparação com o cenário de referência e registro. E4 é o que sustenta tudo: dados de localização e o preço do combustível."
Critério de priorização: "Ordenamos pelo valor para a hipótese do Canvas, que é: uma recomendação automática ajuda o gerente a planejar com menos esforço, custo e tempo. Primeiro vem o que testa a hipótese de ponta a ponta, US01 a US08, porque sem a jornada completa não dá para medir economia. Depois o que dá confiança ao resultado, US10 e US11. Por último o uso recorrente, US09. A Onda 2 só depois de validar a hipótese. Facilidade técnica não foi critério, como a Aula 4 pede; dependência técnica só desempata."
PERGUNTA PROVÁVEL
"Por que dados e modelo não estão no topo, se tudo depende deles?" → Eles vêm antes na ordem de construção, mas sozinhos não entregam nada ao Rafael. Prioridade é valor, não dependência.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QUEM: Gabriel · TEMPO: 1 min 30
O QUE DIZER
"São 14 stories, todas do ponto de vista do Rafael, gerente regional, no formato Como/Quero/Para. A tabela está em ordem de prioridade. Cada linha mostra a funcionalidade do Canvas de onde a story veio: nenhuma story foi inventada fora do Canvas. US10 e US11 não vêm de uma funcionalidade diretamente, elas sustentam outras stories, por isso estão no épico de dados e modelos."
Ler duas em voz alta, não mais: "US01: como Rafael, quero selecionar as agências da minha regional, para montar a viagem só com quem precisa de visita. US11: quero que o custo de carro use o preço do combustível do estado, para a estimativa refletir a região."
Coluna Quadro: "A coluna Quadro é a coluna da Issue no GitHub Projects. US05, US10 e US11 estão em Concluído porque foram entregues na Sprint 1. As outras oito da Onda 1 estão navegáveis no protótipo, mas ficam abertas até a validação com um gerente real, na Sprint 2."
Pontos: "Os pontos vêm do Planning Poker, que o Davi apresenta na Parte 3."
PERGUNTA PROVÁVEL
"Por que 14 e não 8?" → 8 era o mínimo. Cada funcionalidade do Canvas virou uma story pequena o suficiente para caber numa sprint; mais três de Onda 2 e duas de dados e modelo.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QUEM: Gabriel · TEMPO: 1 min 30
O QUE DIZER
"O checkpoint pede ao menos uma story com critério de métrica de dados ou de modelo. Temos uma de cada."
US10: "A base do Banco Central não tem latitude nem longitude. O critério diz: dado as 2.010 agências, quando o pipeline roda, então 100% têm pelo menos coordenada de município, pelo menos 70% têm de bairro, e nenhuma fica a mais de 30 km do centro do município. Resultado: 74,7% com bairro, 290 coordenadas descartadas pela regra dos 30 km."
US11: "Dado a série semanal da ANP, com treino até dezembro de 2019, quando o modelo é avaliado em 2020 e 2021, que ele nunca viu, então o erro médio é de no máximo 15 centavos por litro e 25% abaixo do baseline, que é usar o preço nacional para todos os estados, com erro de 20 centavos. Resultado: 9,5 centavos, 52% abaixo."
"Os dois critérios viraram testes automáticos: quem quiser validar roda python -m pytest."
PERGUNTA PROVÁVEL
"Por que 70% e 30 km?" → 70% porque a base de bairros é pública e incompleta, a meta tinha que ser alcançável. 30 km porque é onde a curva achata: abaixo descarta bairros certos, acima deixa passar colisões. O Luca mostra o teste de sensibilidade na Parte 2 se pedirem.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QUEM: Gabriel · TEMPO: 1 min
O QUE DIZER
"INVEST é o checklist de qualidade de story: independente, negociável, valiosa, estimável, pequena e testável. Revisamos as 14. Nove passaram nas seis letras. Cinco têm ressalva, e preferimos registrar a ressalva a deixar tudo verde."
Escolher duas: "US04 e US06 dependem de outra story como entrada, mas a dependência é de dado, não de entrega: dá para testar com uma lista fixa. US12 podia não caber numa sprint; no Planning Poker o grupo limitou o escopo, vizinho mais próximo mais 2-opt, para caber em 8 pontos. US14 depende de uma fonte com publicação automática; os 5 pontos são ordem de grandeza."
"Nenhuma precisou ser reescrita."
PERGUNTA PROVÁVEL
"Uma story com ressalva em três letras não devia ser reescrita?" → A US14 é Onda 2. Reescrever agora seria gastar esforço numa story que só entra depois de validar a hipótese. A ressalva fica registrada para a hora certa.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QUEM: Gabriel · TEMPO: 1 min
O QUE DIZER
"Dez requisitos funcionais, cada um ligado às stories que o realizam. E oito não funcionais. Os quatro primeiros são os clássicos: desempenho, disponibilidade, explicabilidade e transparência. Os quatro últimos são os específicos de ML que a Aula 4 traz: desempenho do modelo, que é o MAE de até 15 centavos; robustez a drift, que é reavaliar a cada atualização da série, com alerta acima de 25 centavos; reprodutibilidade, com sementes fixas; e privacidade, nenhum dado pessoal no MVP."
Não ler a tabela inteira. Apontar RNF03: "Explicabilidade importa aqui porque o Rafael precisa justificar a escolha do transporte ao gestor dele; por isso todo modal mostra o motivo e as alternativas."
PERGUNTA PROVÁVEL
"Por que 2 segundos?" → É o tempo de uma tela carregar sem o usuário achar que travou; o produto roda no navegador, sem servidor.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QUEM: Gabriel · TEMPO: 1 min 30
O QUE DIZER
"Requisito de dados é o terceiro tipo, que só existe em projeto de ML. Fontes: cadastro de agências do Banco Central, série semanal de preços da ANP, bases públicas de municípios e bairros, e a base consolidada do grupo. Volume: 16.552 agências no país, 2.010 no recorte Itaú; 23.570 registros de gasolina comum em 27 estados. Qualidade: coordenada para 100%, bairro validado contra o município, texto padronizado, preços fora de escala descartados."
Atualização, com honestidade: "A série da ANP que temos para em maio de 2021. Isso é uma limitação declarada: o modelo aprende a diferença de cada estado em relação à média nacional, que é mais estável que o preço em si, e a automatização da atualização é a US14."
LGPD: "As bases são públicas e de pessoa jurídica. Prioridade e prazo de visita são simulados porque não existem em base pública. Em produção, a agenda e o histórico do gerente seriam dados pessoais, e aí precisaria de base legal e acesso mínimo. Isso está no risco R7."
PERGUNTA PROVÁVEL
"Por que não usar uma série mais recente?" → A ANP publica, mas em formato que muda; integrar é exatamente a US14, de Onda 2. Para o MVP, a diferença entre estados é o que importa, e ela é estável.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QUEM: Luca · TEMPO: 1 min 30
O QUE DIZER
"A arquitetura de referência da Aula 5 tem três estágios: ingestão, treino e serving. Nós separamos um quarto, a preparação, porque ela muda por motivo diferente da ingestão. Cada estágio é um módulo. ingest.py carrega e valida, através da abstração DataSource. features.py monta as coordenadas em três níveis e os atributos do modelo. train.py treina o k-means das regionais e a regressão do preço. serve.py calcula custo e modal por trecho, aplica o preço por estado e monta o pacote que o protótipo lê."
"O pipeline.py orquestra os quatro e é o único lugar que conhece os arquivos concretos. Os módulos nunca abrem um Excel diretamente."
Tabela de baixo: "Treino e serving têm ciclos de vida diferentes: o treino roda por sprint ou quando a série de preços muda; o serving roda a cada planejamento. É por isso que não podem viver no mesmo código."
PERGUNTA PROVÁVEL
"Por que a preparação ficou separada?" → Se o Bacen mudar o formato do Excel, só ingest.py muda. Se mudarmos a regra dos 30 km, só features.py muda. Um motivo de mudança por módulo é o princípio de responsabilidade única.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QUEM: Luca · TEMPO: 1 min 30
O QUE DIZER
"Os cinco princípios, com o problema concreto que cada um resolveu no nosso código."
"S, responsabilidade única: antes, cada script numerado misturava leitura, transformação e cálculo; mudar o Excel mexia no mesmo arquivo que formava as regionais. O, aberto/fechado: um meio de transporte novo, como trem, entra como classe nova e comparar_modais não muda; temos um teste que prova isso. L, Liskov: os três estimadores de preço são intercambiáveis, o treino avalia os três com a mesma função e escolhe o melhor, sem if por tipo. I, segregação de interface: as interfaces têm um ou dois métodos, então um teste cria uma implementação falsa em três linhas. D, inversão de dependência: a carga e o treino não sabem se o dado vem de Excel, API ou memória."
"Se o tempo apertar, o importante é o D, que é o que a Aula 5 pede nominalmente. O próximo slide mostra o código."
PERGUNTA PROVÁVEL
"Vocês aplicaram os cinco de propósito ou encaixaram depois?" → S e D foram o objetivo da refatoração. O, L e I apareceram naturalmente quando os modais e os estimadores viraram classes com o mesmo contrato; registramos porque resolveram problemas reais.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QUEM: Luca · TEMPO: 1 min 30
O QUE DIZER
"Este é o exemplo de inversão de dependência que a Aula 5 pede. À esquerda, em ingest.py, a abstração: DataSource é uma classe abstrata com um único método, load, que devolve uma tabela. A função carregar_agencias recebe um DataSource, não um caminho de arquivo. Ela não sabe de onde o dado vem."
"À direita, duas fontes usando a mesma função. Em produção, o pipeline.py passa um ExcelSource com a planilha consolidada. No teste, passamos um MemorySource com uma tabela montada na hora, sem arquivo nenhum em disco."
Faixa: "Trocar a planilha por uma API do Banco Central é escrever uma classe ApiBacenSource e mudar uma linha do pipeline.py. Treino e serving não mudam."
Analogia, se ajudar: "É como uma tomada: o aparelho não sabe se a energia vem da rede, de um gerador ou de uma bateria. Ele só conhece o formato da tomada."
PERGUNTA PROVÁVEL
"Onde está a prova de que funciona?" → No teste test_fonte_em_memoria_substitui_o_excel, em tests/test_ingest.py.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QUEM: Luca · TEMPO: 1 min 30
O QUE DIZER
"A Etapa 4 da Aula 5 pede que o pipeline refatorado produza a mesma saída da versão anterior. Mas durante a refatoração encontramos dois defeitos no código antigo. Se corrigíssemos e comparássemos, os números não bateriam e não daria para saber se a diferença era da reorganização ou da correção."
"Então fizemos em dois passos. Primeiro, rodamos o código novo com os dois defeitos antigos reativados: 2.040 agências, 106 regionais, mesma mediana, mesma cobertura de bairro. Idêntico. Isso prova que a reorganização não mudou o comportamento."
"Depois corrigimos. Defeito 1: o filtro de instituição procurava o trecho 'ITA' e trazia 30 registros que não são agências, como corretoras com 'CAPITAL' no nome. Correção: nome exato, 2.010 agências. Defeito 2: a regra que expande 'S.' para 'SÃO' transformava 'SANTA CATARINA' em 'SAO ANTA CATARINA'. Correção: só expande palavra inteira."
"Versão final: 2.010 agências, 105 regionais, 74,7% com coordenada de bairro."
PERGUNTA PROVÁVEL
"Como vocês acharam os defeitos?" → Validando o requisito de qualidade dos dados: ao escrever o teste de que toda agência é do Itaú, apareceram as corretoras.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QUEM: Luca · TEMPO: 2 min
O QUE DIZER
"Este slide é a verificação do critério de métrica do modelo, da US11. O baseline é o que o sistema fazia antes: o mesmo preço de gasolina para o Brasil inteiro. Erro de 20 centavos por litro. Um modelo intermediário, que soma a diferença média histórica de cada estado, cai para 11,5. A regressão Ridge, que usa o estado, a diferença das últimas 52 semanas e o mês, chega a 9,5 centavos. 52% menos erro que o baseline, e dentro do critério de 15."
Gráfico: "Mês a mês no período de teste. A linha de cima é o baseline, a de baixo é o modelo; a linha tracejada é o critério de 15 centavos. O modelo fica abaixo do critério o tempo todo."
Validação temporal: "Treino até dezembro de 2019, teste de janeiro de 2020 em diante. Não embaralhamos as semanas. Se embaralhássemos, o modelo veria semanas futuras no treino e o resultado ficaria inflado. Escolhemos 2020 de propósito: a pandemia inteira fica no teste, que é o cenário mais difícil."
Drift: "O erro sobe no choque de preços da pandemia e tem o pico em outubro de 2020. É o princípio CACE da Aula 4 aparecendo nos dados: o modelo foi ajustado num regime de preços e avaliado em outro. Por isso o RNF06 manda reavaliar a cada atualização."
Limitação: "A série acaba em 2021. O produto aplica a diferença de cada estado sobre o preço nacional atual, que é informado por parâmetro ao rodar o pipeline."
PERGUNTA PROVÁVEL
"Por que Ridge e não algo mais sofisticado?" → O problema é pequeno e linear: diferença de estado mais sazonalidade. Ridge é interpretável, treina em segundos e já bateu o critério com folga. Modelo mais complexo só se o drift piorar.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QUEM: Davi · TEMPO: 1 min 30
O QUE DIZER
"A definição de pronto da Aula 5: módulos com responsabilidade única, inversão de dependência, pipeline validado e pull request revisado. 23 testes com pytest, um arquivo por módulo, cada um ligado a um critério de aceite. 14 commits pequenos no PR 15: um por módulo reorganizado, depois documentação e revisão. O pipeline inteiro roda em 8 segundos."
Tabela: "test_features garante que Mirandópolis, a 530 km, é descartado. test_train garante que nenhuma regional fura o teto de 40 nem o piso de 4, e que o MAE fica abaixo de 15 centavos. test_serve garante que avião não aparece abaixo de 150 km e que um modal novo entra sem alterar código existente."
Revisão, em primeira pessoa: "Eu fiz a revisão do PR, com três comentários. Primeiro: o preço nacional da gasolina estava fixo no código; foi corrigido, agora é parâmetro do pipeline. Segundo: perguntei por que o corte temporal em 2020; o Luca testou 2019, 2020 e julho de 2020 e a conclusão é a mesma em todos. Terceiro: perguntei por que 30 km; o teste de sensibilidade mostrou que o limite único prejudica municípios muito grandes, como o Rio, e isso virou a Issue 16, para a Sprint 2."
Se der tempo, abrir o PR no navegador na aba Files changed e mostrar os comentários resolvidos.
PERGUNTA PROVÁVEL
"A revisão mudou o projeto?" → Sim: um parâmetro novo, um teste novo e uma Issue nova. Está tudo no PR.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QUEM: Davi · TEMPO: 1 min 30
O QUE DIZER
"WBS, a estrutura analítica do projeto, em quatro níveis como a Aula 6 pede. Nível 1 é o projeto. Nível 2 são as fases do CRISP-DM, mais uma de gestão, como no estudo de caso da aula. Nível 3, os entregáveis de cada fase, está no documento. No slide ficou o nível 4, os pacotes de trabalho, porque é neles que mora a rastreabilidade: cada pacote aponta para a story de origem."
Apontar: "Preparação tem quatro pacotes, todos da US10 e da US11. Modelagem tem o k-means da US01, os modelos de preço da US11, os modais da US05. Entrega são as telas do protótipo. Gestão tem o Planning Poker, a revisão do PR e a revisão dos riscos."
Regra dos 100%: "Conferimos que as 14 stories aparecem em algum pacote e que nenhum pacote existe sem story, com uma exceção declarada: 7.3, revisar riscos, é transversal. A tabela de conferência está no planejamento.md."
PERGUNTA PROVÁVEL
"Por que 'Entrega' em vez de 'Implantação', que é a fase do CRISP-DM?" → No MVP não há implantação; a entrega é o protótipo navegável. Seguimos o estudo de caso da Aula 6, que também usa 'Entrega'.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QUEM: Davi · TEMPO: 2 min
O QUE DIZER
"Planning Poker em Fibonacci: 1, 2, 3, 5, 8, 13. A US01, selecionar agências, foi a referência com 3 pontos; as outras foram comparadas com ela. Votação simultânea, para ninguém se ancorar no colega."
Contar as divergências, que é onde o Poker rende: "Na US04, os votos foram de 3 a 8. Quem deu 3 pensava só em ordenar as agências; quem deu 8 lembrou que a sequência tem que ser quebrada em dias respeitando o teto de horas e a janela. Fechou em 5. Na US09, de 3 a 8: o 8 incluía reabrir um planejamento antigo depois que a base de agências mudou. Fechou em 5, com a decisão de mostrar um aviso em vez de tentar reconciliar. Na US11, de 5 a 13: o 13 era a incerteza de um modelo não testado; o argumento que fechou em 8 foi que o baseline já tinha sido medido, então a meta era conhecida. Na US12, empate entre 8 e 13: em vez de dividir, limitamos o escopo a vizinho mais próximo mais 2-opt."
Capacidade: "4 pessoas, sprints de 2 semanas, velocidade assumida de 20 pontos. É hipótese: todos conciliam o projeto com outras disciplinas. Backlog de 58 pontos, previsão de 4 sprints. A velocidade real da Sprint 1 recalibra isso."
PERGUNTA PROVÁVEL
"Por que 20 pontos?" → Velocidade inicial é sempre hipótese; 20 é razoável para 4 pessoas em meio período, e a Sprint 1 entregou 19, o que confirma a ordem de grandeza.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QUEM: Victor · TEMPO: 2 min
O QUE DIZER
"Sete riscos, com probabilidade e impacto de baixo a alto, exposição é o produto dos dois. Três de dados, dois de modelo, um de prazo e um de privacidade. Cada um tem resposta e dono."
Os dois mais importantes: "R3 é o único de nota 9: prioridade e periodicidade de visita não existem em base pública. A resposta é transferir: no piloto, a área de negócio fornece o dado; até lá, os campos são simulados e declarados como tal na interface. R1, coordenada errada por colisão de nome de bairro, é mitigado pela regra dos 30 km e por um teste automático; a revisão do PR mostrou que a regra ainda tem um ponto cego nos municípios muito grandes, que virou a Issue 16."
Resposta por tipo: "R5, rotas com ida e volta, aceitamos: está declarado na interface e a otimização é a US12. R7, agenda do gerente como dado pessoal, evitamos: o MVP não trata dado pessoal."
Donos: "Cada integrante é dono dos riscos da frente que conduz: Gabriel na base de agências, Luca no modelo, eu no negócio e na rota, Davi no prazo e no repositório. A matriz é revisada a cada sprint, pacote 7.3."
PERGUNTA PROVÁVEL
"Por que R2, série antiga, é só médio de impacto?" → Porque o modelo usa a diferença entre estados, não o nível de preço, e a diferença é estável. Se fosse o nível, seria alto.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QUEM: Victor · TEMPO: 1 min 30
O QUE DIZER
"Meta da Sprint 1: transformar a base de agências e o custo de deslocamento num pipeline modular e testado, com o preço por estado validado contra o baseline. Capacidade de 20 pontos; selecionamos 19: US10 com 5, US11 com 8, US05 com 3, e testes com PR revisado com 3. Cada item tem um dono e os pacotes da WBS que cobre."
Por que estas e não as do topo da prioridade, antecipar a pergunta: "A Aula 6 diz para puxar do topo do backlog. O topo é US01 a US08, que são as stories de interface, e elas já estavam navegáveis no protótipo do checkpoint anterior. Não faria sentido planejar uma sprint para construir telas que já existem. A Sprint 1 atacou o que sustenta os números que o protótipo mostra: localização, preço e modal. A Sprint 2 volta ao topo para validar as stories de interface com um gerente real."
Definição de pronto: "Critério de aceite verificado, de preferência por teste; código no módulo certo; PR revisado por outro integrante; pipeline rodando de ponta a ponta. Os quatro itens foram entregues."
Riscos monitorados: R1, R2, R4 e R6.
PERGUNTA PROVÁVEL
"A sprint já aconteceu? O checkpoint pedia o plano." → O plano foi feito na Aula 6 e a sprint rodou entre a Aula 6 e hoje. Mostramos o plano e o resultado porque o resultado é a prova de que a capacidade era realista.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QUEM: Victor · TEMPO: 1 min
O QUE DIZER
"Para fechar: as stories de interface da Onda 1 estão navegáveis no protótipo do checkpoint anterior, cada uma no lugar indicado aqui. Elas ficam abertas no quadro até a validação com um gerente real, que é a Sprint 2."
Entregáveis: "Repositório, pull request 15 revisado e com merge, as 14 Issues com o quadro, os três documentos: backlog, arquitetura e planejamento, e um notebook no Google Colab que reproduz os dois modelos e roda os testes. Tudo público."
Próximo passo: "Sprint 2 valida as stories de interface. A otimização da rota, US12, entra na Sprint 3."
"Obrigado. Perguntas?"
Se houver tempo e o professor pedir, abrir o protótipo e mostrar uma jornada: selecionar agências de uma regional, informar origem e período, gerar a rota e abrir o detalhe de um trecho. Dois minutos, no máximo.
DIVISÃO DA APRESENTAÇÃO
Gabriel: slides 1 a 8 (12 min) · Luca: 9 a 13 (8 min) · Davi: 14 a 16 (5 min) · Victor: 17 a 19 (4 min). Total ~20 min; se o professor der 10, cortar as leituras de story e as divergências do Poker para uma só.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226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0972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7FC4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PROJETO E GESTÃO DE DADOS · CCD610 · CHECKPOINT DAS AULAS 4, 5 E 6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600200"/>
            <a:ext cx="10058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Sistema de Roteirização</a:t>
            </a:r>
            <a:endParaRPr lang="en-US" sz="4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331720"/>
            <a:ext cx="10058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7FC4B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 Visitas às Agências</a:t>
            </a:r>
            <a:endParaRPr lang="en-US" sz="4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2461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CF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Canvas MVP ao plano da Sprint 1: requisitos, arquitetura e planejamento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548640" y="3886200"/>
            <a:ext cx="2743200" cy="0"/>
          </a:xfrm>
          <a:prstGeom prst="line">
            <a:avLst/>
          </a:prstGeom>
          <a:noFill/>
          <a:ln w="31750">
            <a:solidFill>
              <a:srgbClr val="0E7C6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4114800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Davi Cassiano · Gabriel Felipe · Luca Juraski · Victor Meneguin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4663440"/>
            <a:ext cx="109728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7FC4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Repositório  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CF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github.com/davi-cassiano/Projeto-Varela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7FC4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Pull request  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CF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github.com/davi-cassiano/Projeto-Varela/pull/15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7FC4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 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CF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Issues #1 a #14 · quadro em github.com/users/davi-cassiano/projects/1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7FC4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Notebook  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CF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colab.research.google.com/github/davi-cassiano/Projeto-Varela/blob/main/notebooks/modelos.ipynb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12064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1226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mesmo produto, amadurecendo</a:t>
            </a:r>
            <a:endParaRPr lang="en-US" sz="27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60704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A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etapa recebe a saída da anterior — é a regra de rastreabilidade do checkpoint</a:t>
            </a:r>
            <a:endParaRPr lang="en-US" sz="1350" dirty="0"/>
          </a:p>
        </p:txBody>
      </p:sp>
      <p:sp>
        <p:nvSpPr>
          <p:cNvPr id="4" name="Text 2"/>
          <p:cNvSpPr txBox="1"/>
          <p:nvPr/>
        </p:nvSpPr>
        <p:spPr>
          <a:xfrm>
            <a:off x="11155680" y="647395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dirty="0">
                <a:solidFill>
                  <a:srgbClr val="9AAA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548640" y="1691640"/>
            <a:ext cx="2578608" cy="2377440"/>
          </a:xfrm>
          <a:prstGeom prst="roundRect">
            <a:avLst>
              <a:gd name="adj" fmla="val 1923"/>
            </a:avLst>
          </a:prstGeom>
          <a:solidFill>
            <a:srgbClr val="F4F7FA"/>
          </a:solidFill>
          <a:ln w="12700">
            <a:solidFill>
              <a:srgbClr val="D9E0E8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49808" y="1874520"/>
            <a:ext cx="2194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 3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749808" y="214884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226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Canvas MVP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749808" y="2697480"/>
            <a:ext cx="21945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A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 Rafael, 8 funcionalidades na Onda 1, métricas de validação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154680" y="2743200"/>
            <a:ext cx="182880" cy="274320"/>
          </a:xfrm>
          <a:prstGeom prst="rightArrow">
            <a:avLst/>
          </a:prstGeom>
          <a:solidFill>
            <a:srgbClr val="9AAAB8"/>
          </a:solidFill>
          <a:ln w="12700">
            <a:solidFill>
              <a:srgbClr val="9AAAB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355848" y="1691640"/>
            <a:ext cx="2578608" cy="2377440"/>
          </a:xfrm>
          <a:prstGeom prst="roundRect">
            <a:avLst>
              <a:gd name="adj" fmla="val 1923"/>
            </a:avLst>
          </a:prstGeom>
          <a:solidFill>
            <a:srgbClr val="E4F1ED"/>
          </a:solidFill>
          <a:ln w="12700">
            <a:solidFill>
              <a:srgbClr val="B7DCD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557016" y="1874520"/>
            <a:ext cx="2194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 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3557016" y="214884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226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Backlog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3557016" y="2697480"/>
            <a:ext cx="21945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A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épicos, 14 user stories, critérios de aceite, INVEST e requisitos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961888" y="2743200"/>
            <a:ext cx="182880" cy="274320"/>
          </a:xfrm>
          <a:prstGeom prst="rightArrow">
            <a:avLst/>
          </a:prstGeom>
          <a:solidFill>
            <a:srgbClr val="9AAAB8"/>
          </a:solidFill>
          <a:ln w="12700">
            <a:solidFill>
              <a:srgbClr val="9AAAB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163056" y="1691640"/>
            <a:ext cx="2578608" cy="2377440"/>
          </a:xfrm>
          <a:prstGeom prst="roundRect">
            <a:avLst>
              <a:gd name="adj" fmla="val 1923"/>
            </a:avLst>
          </a:prstGeom>
          <a:solidFill>
            <a:srgbClr val="E4F1ED"/>
          </a:solidFill>
          <a:ln w="12700">
            <a:solidFill>
              <a:srgbClr val="B7DCD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364224" y="1874520"/>
            <a:ext cx="2194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 5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6364224" y="214884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226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Arquitetura</a:t>
            </a:r>
            <a:endParaRPr lang="en-US" sz="2000" dirty="0"/>
          </a:p>
        </p:txBody>
      </p:sp>
      <p:sp>
        <p:nvSpPr>
          <p:cNvPr id="18" name="Text 16"/>
          <p:cNvSpPr txBox="1"/>
          <p:nvPr/>
        </p:nvSpPr>
        <p:spPr>
          <a:xfrm>
            <a:off x="6364224" y="2697480"/>
            <a:ext cx="21945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A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ingest, features, train e serve, SOLID, 23 testes, pull request #15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8769096" y="2743200"/>
            <a:ext cx="182880" cy="274320"/>
          </a:xfrm>
          <a:prstGeom prst="rightArrow">
            <a:avLst/>
          </a:prstGeom>
          <a:solidFill>
            <a:srgbClr val="9AAAB8"/>
          </a:solidFill>
          <a:ln w="12700">
            <a:solidFill>
              <a:srgbClr val="9AAAB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970264" y="1691640"/>
            <a:ext cx="2578608" cy="2377440"/>
          </a:xfrm>
          <a:prstGeom prst="roundRect">
            <a:avLst>
              <a:gd name="adj" fmla="val 1923"/>
            </a:avLst>
          </a:prstGeom>
          <a:solidFill>
            <a:srgbClr val="E4F1ED"/>
          </a:solidFill>
          <a:ln w="12700">
            <a:solidFill>
              <a:srgbClr val="B7DCD2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9171432" y="1874520"/>
            <a:ext cx="2194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 6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9171432" y="214884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226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Plano</a:t>
            </a:r>
            <a:endParaRPr lang="en-US" sz="2000" dirty="0"/>
          </a:p>
        </p:txBody>
      </p:sp>
      <p:sp>
        <p:nvSpPr>
          <p:cNvPr id="23" name="Text 21"/>
          <p:cNvSpPr txBox="1"/>
          <p:nvPr/>
        </p:nvSpPr>
        <p:spPr>
          <a:xfrm>
            <a:off x="9171432" y="2697480"/>
            <a:ext cx="21945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A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WBS em 4 níveis, estimativas, 7 riscos e Sprint 1 com 19 de 20 pontos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548640" y="43434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Exemplo de rastreabilidade de ponta a ponta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548640" y="4709160"/>
            <a:ext cx="2057400" cy="6858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D9E0E8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58368" y="480060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Canvas: recomendar modal por trecho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2606040" y="4846320"/>
            <a:ext cx="1920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A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2798064" y="4709160"/>
            <a:ext cx="2057400" cy="6858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D9E0E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2907792" y="480060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US05 · Issue #5</a:t>
            </a:r>
            <a:endParaRPr lang="en-US" sz="1100" dirty="0"/>
          </a:p>
        </p:txBody>
      </p:sp>
      <p:sp>
        <p:nvSpPr>
          <p:cNvPr id="30" name="Text 28"/>
          <p:cNvSpPr txBox="1"/>
          <p:nvPr/>
        </p:nvSpPr>
        <p:spPr>
          <a:xfrm>
            <a:off x="4855464" y="4846320"/>
            <a:ext cx="1920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A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31" name="Shape 29"/>
          <p:cNvSpPr/>
          <p:nvPr/>
        </p:nvSpPr>
        <p:spPr>
          <a:xfrm>
            <a:off x="5047488" y="4709160"/>
            <a:ext cx="2057400" cy="6858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D9E0E8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5157216" y="480060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serve.py · classes Carro, Ônibus, Avião</a:t>
            </a:r>
            <a:endParaRPr lang="en-US" sz="1100" dirty="0"/>
          </a:p>
        </p:txBody>
      </p:sp>
      <p:sp>
        <p:nvSpPr>
          <p:cNvPr id="33" name="Text 31"/>
          <p:cNvSpPr txBox="1"/>
          <p:nvPr/>
        </p:nvSpPr>
        <p:spPr>
          <a:xfrm>
            <a:off x="7104888" y="4846320"/>
            <a:ext cx="1920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A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7296912" y="4709160"/>
            <a:ext cx="2057400" cy="6858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D9E0E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7406640" y="480060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WBS 4.3 · Sprint 1</a:t>
            </a:r>
            <a:endParaRPr lang="en-US" sz="1100" dirty="0"/>
          </a:p>
        </p:txBody>
      </p:sp>
      <p:sp>
        <p:nvSpPr>
          <p:cNvPr id="36" name="Text 34"/>
          <p:cNvSpPr txBox="1"/>
          <p:nvPr/>
        </p:nvSpPr>
        <p:spPr>
          <a:xfrm>
            <a:off x="9354312" y="4846320"/>
            <a:ext cx="1920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A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9546336" y="4709160"/>
            <a:ext cx="2057400" cy="6858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D9E0E8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9656064" y="480060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test_serve.py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548640" y="5715000"/>
            <a:ext cx="11064240" cy="566928"/>
          </a:xfrm>
          <a:prstGeom prst="roundRect">
            <a:avLst>
              <a:gd name="adj" fmla="val 8065"/>
            </a:avLst>
          </a:prstGeom>
          <a:solidFill>
            <a:srgbClr val="12263A"/>
          </a:solidFill>
          <a:ln w="12700">
            <a:solidFill>
              <a:srgbClr val="12263A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822960" y="5870448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F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Nesta entrega o protótipo de interface é só evidência. O centro são os entregáveis das Aulas 4, 5 e 6: backlog, arquitetura e plano.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PARTE 1 · ENGENHARIA DE REQUISITOS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12064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1226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Épicos e critério de priorização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060704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A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quatro épicos agrupam as funcionalidades da Onda 1 do Canvas MVP</a:t>
            </a:r>
            <a:endParaRPr lang="en-US" sz="1350" dirty="0"/>
          </a:p>
        </p:txBody>
      </p:sp>
      <p:sp>
        <p:nvSpPr>
          <p:cNvPr id="5" name="Text 3"/>
          <p:cNvSpPr txBox="1"/>
          <p:nvPr/>
        </p:nvSpPr>
        <p:spPr>
          <a:xfrm>
            <a:off x="11155680" y="647395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dirty="0">
                <a:solidFill>
                  <a:srgbClr val="9AAA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548640" y="1600200"/>
            <a:ext cx="5394960" cy="1207008"/>
          </a:xfrm>
          <a:prstGeom prst="roundRect">
            <a:avLst>
              <a:gd name="adj" fmla="val 3788"/>
            </a:avLst>
          </a:prstGeom>
          <a:solidFill>
            <a:srgbClr val="F4F7FA"/>
          </a:solidFill>
          <a:ln w="12700">
            <a:solidFill>
              <a:srgbClr val="D9E0E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49808" y="1783080"/>
            <a:ext cx="301752" cy="256032"/>
          </a:xfrm>
          <a:prstGeom prst="roundRect">
            <a:avLst>
              <a:gd name="adj" fmla="val 14286"/>
            </a:avLst>
          </a:prstGeom>
          <a:solidFill>
            <a:srgbClr val="12263A"/>
          </a:solidFill>
          <a:ln w="12700">
            <a:solidFill>
              <a:srgbClr val="12263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49808" y="1824228"/>
            <a:ext cx="3017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E1</a:t>
            </a:r>
            <a:endParaRPr lang="en-US" sz="950" dirty="0"/>
          </a:p>
        </p:txBody>
      </p:sp>
      <p:sp>
        <p:nvSpPr>
          <p:cNvPr id="9" name="Text 7"/>
          <p:cNvSpPr txBox="1"/>
          <p:nvPr/>
        </p:nvSpPr>
        <p:spPr>
          <a:xfrm>
            <a:off x="1234440" y="1764792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Montagem do planejamento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749808" y="2130552"/>
            <a:ext cx="5029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A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Selecionar agências, informar origem, período e restrições, escolher o objetivo</a:t>
            </a:r>
            <a:endParaRPr lang="en-US" sz="1150" dirty="0"/>
          </a:p>
        </p:txBody>
      </p:sp>
      <p:sp>
        <p:nvSpPr>
          <p:cNvPr id="11" name="Text 9"/>
          <p:cNvSpPr txBox="1"/>
          <p:nvPr/>
        </p:nvSpPr>
        <p:spPr>
          <a:xfrm>
            <a:off x="749808" y="2496312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US01 · US02 · US03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126480" y="1600200"/>
            <a:ext cx="5394960" cy="1207008"/>
          </a:xfrm>
          <a:prstGeom prst="roundRect">
            <a:avLst>
              <a:gd name="adj" fmla="val 3788"/>
            </a:avLst>
          </a:prstGeom>
          <a:solidFill>
            <a:srgbClr val="F4F7FA"/>
          </a:solidFill>
          <a:ln w="12700">
            <a:solidFill>
              <a:srgbClr val="D9E0E8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327648" y="1783080"/>
            <a:ext cx="301752" cy="256032"/>
          </a:xfrm>
          <a:prstGeom prst="roundRect">
            <a:avLst>
              <a:gd name="adj" fmla="val 14286"/>
            </a:avLst>
          </a:prstGeom>
          <a:solidFill>
            <a:srgbClr val="12263A"/>
          </a:solidFill>
          <a:ln w="12700">
            <a:solidFill>
              <a:srgbClr val="12263A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327648" y="1824228"/>
            <a:ext cx="3017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E2</a:t>
            </a:r>
            <a:endParaRPr lang="en-US" sz="950" dirty="0"/>
          </a:p>
        </p:txBody>
      </p:sp>
      <p:sp>
        <p:nvSpPr>
          <p:cNvPr id="15" name="Text 13"/>
          <p:cNvSpPr txBox="1"/>
          <p:nvPr/>
        </p:nvSpPr>
        <p:spPr>
          <a:xfrm>
            <a:off x="6812280" y="1764792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Recomendação da rota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6327648" y="2130552"/>
            <a:ext cx="5029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A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Sequência de visitas, modal por trecho, distância, tempo e custo</a:t>
            </a:r>
            <a:endParaRPr lang="en-US" sz="1150" dirty="0"/>
          </a:p>
        </p:txBody>
      </p:sp>
      <p:sp>
        <p:nvSpPr>
          <p:cNvPr id="17" name="Text 15"/>
          <p:cNvSpPr txBox="1"/>
          <p:nvPr/>
        </p:nvSpPr>
        <p:spPr>
          <a:xfrm>
            <a:off x="6327648" y="2496312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US04 · US05 · US06 · US12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548640" y="2971800"/>
            <a:ext cx="5394960" cy="1207008"/>
          </a:xfrm>
          <a:prstGeom prst="roundRect">
            <a:avLst>
              <a:gd name="adj" fmla="val 3788"/>
            </a:avLst>
          </a:prstGeom>
          <a:solidFill>
            <a:srgbClr val="F4F7FA"/>
          </a:solidFill>
          <a:ln w="12700">
            <a:solidFill>
              <a:srgbClr val="D9E0E8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49808" y="3154680"/>
            <a:ext cx="301752" cy="256032"/>
          </a:xfrm>
          <a:prstGeom prst="roundRect">
            <a:avLst>
              <a:gd name="adj" fmla="val 14286"/>
            </a:avLst>
          </a:prstGeom>
          <a:solidFill>
            <a:srgbClr val="12263A"/>
          </a:solidFill>
          <a:ln w="12700">
            <a:solidFill>
              <a:srgbClr val="12263A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49808" y="3195828"/>
            <a:ext cx="3017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E3</a:t>
            </a:r>
            <a:endParaRPr lang="en-US" sz="950" dirty="0"/>
          </a:p>
        </p:txBody>
      </p:sp>
      <p:sp>
        <p:nvSpPr>
          <p:cNvPr id="21" name="Text 19"/>
          <p:cNvSpPr txBox="1"/>
          <p:nvPr/>
        </p:nvSpPr>
        <p:spPr>
          <a:xfrm>
            <a:off x="1234440" y="3136392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Avaliação do planejamento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749808" y="3502152"/>
            <a:ext cx="5029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A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Totais, economia, cenário de referência e registro do roteiro</a:t>
            </a:r>
            <a:endParaRPr lang="en-US" sz="1150" dirty="0"/>
          </a:p>
        </p:txBody>
      </p:sp>
      <p:sp>
        <p:nvSpPr>
          <p:cNvPr id="23" name="Text 21"/>
          <p:cNvSpPr txBox="1"/>
          <p:nvPr/>
        </p:nvSpPr>
        <p:spPr>
          <a:xfrm>
            <a:off x="749808" y="3867912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US07 · US08 · US09 · US13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6126480" y="2971800"/>
            <a:ext cx="5394960" cy="1207008"/>
          </a:xfrm>
          <a:prstGeom prst="roundRect">
            <a:avLst>
              <a:gd name="adj" fmla="val 3788"/>
            </a:avLst>
          </a:prstGeom>
          <a:solidFill>
            <a:srgbClr val="F4F7FA"/>
          </a:solidFill>
          <a:ln w="12700">
            <a:solidFill>
              <a:srgbClr val="D9E0E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327648" y="3154680"/>
            <a:ext cx="301752" cy="256032"/>
          </a:xfrm>
          <a:prstGeom prst="roundRect">
            <a:avLst>
              <a:gd name="adj" fmla="val 14286"/>
            </a:avLst>
          </a:prstGeom>
          <a:solidFill>
            <a:srgbClr val="12263A"/>
          </a:solidFill>
          <a:ln w="12700">
            <a:solidFill>
              <a:srgbClr val="12263A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327648" y="3195828"/>
            <a:ext cx="3017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E4</a:t>
            </a:r>
            <a:endParaRPr lang="en-US" sz="950" dirty="0"/>
          </a:p>
        </p:txBody>
      </p:sp>
      <p:sp>
        <p:nvSpPr>
          <p:cNvPr id="27" name="Text 25"/>
          <p:cNvSpPr txBox="1"/>
          <p:nvPr/>
        </p:nvSpPr>
        <p:spPr>
          <a:xfrm>
            <a:off x="6812280" y="3136392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Dados e modelos</a:t>
            </a:r>
            <a:endParaRPr lang="en-US" sz="1500" dirty="0"/>
          </a:p>
        </p:txBody>
      </p:sp>
      <p:sp>
        <p:nvSpPr>
          <p:cNvPr id="28" name="Text 26"/>
          <p:cNvSpPr txBox="1"/>
          <p:nvPr/>
        </p:nvSpPr>
        <p:spPr>
          <a:xfrm>
            <a:off x="6327648" y="3502152"/>
            <a:ext cx="5029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A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Localização confiável e preço de combustível por estado</a:t>
            </a:r>
            <a:endParaRPr lang="en-US" sz="1150" dirty="0"/>
          </a:p>
        </p:txBody>
      </p:sp>
      <p:sp>
        <p:nvSpPr>
          <p:cNvPr id="29" name="Text 27"/>
          <p:cNvSpPr txBox="1"/>
          <p:nvPr/>
        </p:nvSpPr>
        <p:spPr>
          <a:xfrm>
            <a:off x="6327648" y="3867912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US10 · US11 · US14</a:t>
            </a:r>
            <a:endParaRPr lang="en-US" sz="1050" dirty="0"/>
          </a:p>
        </p:txBody>
      </p:sp>
      <p:sp>
        <p:nvSpPr>
          <p:cNvPr id="30" name="Text 28"/>
          <p:cNvSpPr txBox="1"/>
          <p:nvPr/>
        </p:nvSpPr>
        <p:spPr>
          <a:xfrm>
            <a:off x="548640" y="443484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Critério de priorização: valor para a hipótese do MVP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548640" y="4800600"/>
            <a:ext cx="11064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250" dirty="0">
                <a:solidFill>
                  <a:srgbClr val="5A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Primeiro o que testa a hipótese de ponta a ponta (US01 a US08) — sem a jornada completa não se mede economia.</a:t>
            </a:r>
            <a:endParaRPr lang="en-US" sz="12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250" dirty="0">
                <a:solidFill>
                  <a:srgbClr val="5A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Depois o que dá confiança ao resultado (US10 e US11) — antes na construção, depois na ordem de valor.</a:t>
            </a:r>
            <a:endParaRPr lang="en-US" sz="12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250" dirty="0">
                <a:solidFill>
                  <a:srgbClr val="5A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Por último o que torna o uso recorrente (US09). Onda 2 só depois de validar a hipótese.</a:t>
            </a:r>
            <a:endParaRPr lang="en-US" sz="12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250" i="1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Facilidade técnica não foi critério, como pede a Aula 4. Dependência técnica só desempata.</a:t>
            </a:r>
            <a:endParaRPr lang="en-US" sz="12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PARTE 1 · ENGENHARIA DE REQUISITOS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12064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1226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Backlog: 14 user stories priorizadas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060704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A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Rafael, gerente regional, quero… para… · ordem da tabela = prioridade · cada story é uma Issue no GitHub</a:t>
            </a:r>
            <a:endParaRPr lang="en-US" sz="1350" dirty="0"/>
          </a:p>
        </p:txBody>
      </p:sp>
      <p:sp>
        <p:nvSpPr>
          <p:cNvPr id="5" name="Text 3"/>
          <p:cNvSpPr txBox="1"/>
          <p:nvPr/>
        </p:nvSpPr>
        <p:spPr>
          <a:xfrm>
            <a:off x="11155680" y="647395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dirty="0">
                <a:solidFill>
                  <a:srgbClr val="9AAA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81328"/>
          <a:ext cx="11064240" cy="914400"/>
        </p:xfrm>
        <a:graphic>
          <a:graphicData uri="http://schemas.openxmlformats.org/drawingml/2006/table">
            <a:tbl>
              <a:tblPr/>
              <a:tblGrid>
                <a:gridCol w="382993"/>
                <a:gridCol w="638322"/>
                <a:gridCol w="3063943"/>
                <a:gridCol w="2808615"/>
                <a:gridCol w="2808615"/>
                <a:gridCol w="808541"/>
                <a:gridCol w="553212"/>
              </a:tblGrid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6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Story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6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Quero…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6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Para…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6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Funcionalidade do Canvas MVP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6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Quadro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6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Pts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63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US01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Selecionar as agências da minha regional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montar a viagem só com quem precisa de visita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Selecionar agências a visitar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Onda 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US02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Informar origem, período e restrições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rota caber na minha agenda real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Informar origem, período e restrições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Onda 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US03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Escolher o objetivo da rota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adaptar a viagem à urgência do ciclo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Definir objetivo: custo, tempo ou combinação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Onda 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US04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Receber a sequência de visitas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não decidir a ordem de cabeça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Gerar sequência recomendada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Onda 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US05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Saber qual transporte usar em cada trecho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não escolher o transporte por hábito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Recomendar modal por trecho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0E7C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Concluído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US06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 o detalhe de cada trecho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confiar e justificar a recomendação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Exibir distância, tempo e custo por trecho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Onda 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US07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 o custo total e a economia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saber o tamanho da viagem antes de aprovar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Exibir totais e economia estimada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Onda 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US08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Comparar com o que eu faria sem o sistema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enxergar de onde vem a economia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Comparar com cenário de referência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Onda 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US10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Agências no lugar certo do mapa · dados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confiar nas distâncias e nos custos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Sustenta US04, US05 e US06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0E7C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Concluído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US11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Preço do combustível do estado · modelo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estimativa refletir a região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Sustenta US05 e US07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0E7C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Concluído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US09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Salvar e exportar o planejamento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anexar à solicitação de viagem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Registro básico do roteiro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Onda 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US12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Sequência otimizada de visitas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evitar idas e voltas desnecessárias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Reotimização dos cronogramas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9A5B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Onda 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US13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Painel consolidado da regional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acompanhar a regional ao longo do mês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Dashboard gerencial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9A5B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Onda 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US14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Preços atualizados automaticamente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 custo estimado não envelhecer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Atualização automática de preços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9A5B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Onda 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548640" y="589788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5A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Ordem = prioridade pelo valor para a hipótese do MVP (slide anterior). Coluna Quadro = coluna da Issue no GitHub Projects: Concluído (Sprint 1), Onda 1 e Onda 2. Pontos do Planning Poker: Onda 1 42 · Onda 2 16 · total 58.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PARTE 1 · ENGENHARIA DE REQUISITOS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12064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1226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Stories com critério de métrica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060704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A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Uma de dados (US10) e uma do modelo (US11), com o critério Dado/Quando/Então e o resultado medido</a:t>
            </a:r>
            <a:endParaRPr lang="en-US" sz="1350" dirty="0"/>
          </a:p>
        </p:txBody>
      </p:sp>
      <p:sp>
        <p:nvSpPr>
          <p:cNvPr id="5" name="Text 3"/>
          <p:cNvSpPr txBox="1"/>
          <p:nvPr/>
        </p:nvSpPr>
        <p:spPr>
          <a:xfrm>
            <a:off x="11155680" y="647395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dirty="0">
                <a:solidFill>
                  <a:srgbClr val="9AAA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548640" y="1600200"/>
            <a:ext cx="5394960" cy="4526280"/>
          </a:xfrm>
          <a:prstGeom prst="roundRect">
            <a:avLst>
              <a:gd name="adj" fmla="val 1010"/>
            </a:avLst>
          </a:prstGeom>
          <a:solidFill>
            <a:srgbClr val="F4F7FA"/>
          </a:solidFill>
          <a:ln w="12700">
            <a:solidFill>
              <a:srgbClr val="D9E0E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77240" y="1783080"/>
            <a:ext cx="1778508" cy="256032"/>
          </a:xfrm>
          <a:prstGeom prst="roundRect">
            <a:avLst>
              <a:gd name="adj" fmla="val 14286"/>
            </a:avLst>
          </a:prstGeom>
          <a:solidFill>
            <a:srgbClr val="12263A"/>
          </a:solidFill>
          <a:ln w="12700">
            <a:solidFill>
              <a:srgbClr val="12263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77240" y="1824228"/>
            <a:ext cx="17785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US10 · story de dados</a:t>
            </a:r>
            <a:endParaRPr lang="en-US" sz="950" dirty="0"/>
          </a:p>
        </p:txBody>
      </p:sp>
      <p:sp>
        <p:nvSpPr>
          <p:cNvPr id="9" name="Text 7"/>
          <p:cNvSpPr txBox="1"/>
          <p:nvPr/>
        </p:nvSpPr>
        <p:spPr>
          <a:xfrm>
            <a:off x="777240" y="2194560"/>
            <a:ext cx="4937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i="1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Rafael, quero que cada agência esteja na posição correta e que eu saiba quando ela é aproximada, para confiar nas distâncias.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777240" y="315468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DADO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1645920" y="3154680"/>
            <a:ext cx="4069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2.010 agências, que na base do Bacen não têm coordenada</a:t>
            </a:r>
            <a:endParaRPr lang="en-US" sz="1150" dirty="0"/>
          </a:p>
        </p:txBody>
      </p:sp>
      <p:sp>
        <p:nvSpPr>
          <p:cNvPr id="12" name="Text 10"/>
          <p:cNvSpPr txBox="1"/>
          <p:nvPr/>
        </p:nvSpPr>
        <p:spPr>
          <a:xfrm>
            <a:off x="777240" y="386791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QUANDO</a:t>
            </a:r>
            <a:endParaRPr lang="en-US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1645920" y="3867912"/>
            <a:ext cx="4069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pipeline de ingestão e preparação roda</a:t>
            </a:r>
            <a:endParaRPr lang="en-US" sz="1150" dirty="0"/>
          </a:p>
        </p:txBody>
      </p:sp>
      <p:sp>
        <p:nvSpPr>
          <p:cNvPr id="14" name="Text 12"/>
          <p:cNvSpPr txBox="1"/>
          <p:nvPr/>
        </p:nvSpPr>
        <p:spPr>
          <a:xfrm>
            <a:off x="777240" y="4581144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ENTÃO</a:t>
            </a: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1645920" y="4581144"/>
            <a:ext cx="4069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 têm ao menos coordenada de município, pelo menos 70% têm de bairro, e nenhuma fica a mais de 30 km do centro do município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777240" y="5440680"/>
            <a:ext cx="493776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E0E8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914400" y="5541264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Resultado: 74,7% com bairro · 290 descartadas pela regra dos 30 km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6126480" y="1600200"/>
            <a:ext cx="5394960" cy="4526280"/>
          </a:xfrm>
          <a:prstGeom prst="roundRect">
            <a:avLst>
              <a:gd name="adj" fmla="val 1010"/>
            </a:avLst>
          </a:prstGeom>
          <a:solidFill>
            <a:srgbClr val="E4F1ED"/>
          </a:solidFill>
          <a:ln w="12700">
            <a:solidFill>
              <a:srgbClr val="B7DCD2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355080" y="1783080"/>
            <a:ext cx="1856232" cy="256032"/>
          </a:xfrm>
          <a:prstGeom prst="roundRect">
            <a:avLst>
              <a:gd name="adj" fmla="val 14286"/>
            </a:avLst>
          </a:prstGeom>
          <a:solidFill>
            <a:srgbClr val="0E7C66"/>
          </a:solidFill>
          <a:ln w="12700">
            <a:solidFill>
              <a:srgbClr val="0E7C66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355080" y="1824228"/>
            <a:ext cx="1856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US11 · story de modelo</a:t>
            </a:r>
            <a:endParaRPr lang="en-US" sz="950" dirty="0"/>
          </a:p>
        </p:txBody>
      </p:sp>
      <p:sp>
        <p:nvSpPr>
          <p:cNvPr id="21" name="Text 19"/>
          <p:cNvSpPr txBox="1"/>
          <p:nvPr/>
        </p:nvSpPr>
        <p:spPr>
          <a:xfrm>
            <a:off x="6355080" y="2194560"/>
            <a:ext cx="4937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i="1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Rafael, quero que o custo de carro use o preço do combustível do estado, para que a estimativa reflita a região.</a:t>
            </a:r>
            <a:endParaRPr lang="en-US" sz="1250" dirty="0"/>
          </a:p>
        </p:txBody>
      </p:sp>
      <p:sp>
        <p:nvSpPr>
          <p:cNvPr id="22" name="Text 20"/>
          <p:cNvSpPr txBox="1"/>
          <p:nvPr/>
        </p:nvSpPr>
        <p:spPr>
          <a:xfrm>
            <a:off x="6355080" y="315468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DADO</a:t>
            </a:r>
            <a:endParaRPr lang="en-US" sz="1000" dirty="0"/>
          </a:p>
        </p:txBody>
      </p:sp>
      <p:sp>
        <p:nvSpPr>
          <p:cNvPr id="23" name="Text 21"/>
          <p:cNvSpPr txBox="1"/>
          <p:nvPr/>
        </p:nvSpPr>
        <p:spPr>
          <a:xfrm>
            <a:off x="7223760" y="3154680"/>
            <a:ext cx="4069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série semanal da ANP por estado, treino até dez/2019</a:t>
            </a:r>
            <a:endParaRPr lang="en-US" sz="1150" dirty="0"/>
          </a:p>
        </p:txBody>
      </p:sp>
      <p:sp>
        <p:nvSpPr>
          <p:cNvPr id="24" name="Text 22"/>
          <p:cNvSpPr txBox="1"/>
          <p:nvPr/>
        </p:nvSpPr>
        <p:spPr>
          <a:xfrm>
            <a:off x="6355080" y="386791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QUANDO</a:t>
            </a:r>
            <a:endParaRPr lang="en-US" sz="1000" dirty="0"/>
          </a:p>
        </p:txBody>
      </p:sp>
      <p:sp>
        <p:nvSpPr>
          <p:cNvPr id="25" name="Text 23"/>
          <p:cNvSpPr txBox="1"/>
          <p:nvPr/>
        </p:nvSpPr>
        <p:spPr>
          <a:xfrm>
            <a:off x="7223760" y="3867912"/>
            <a:ext cx="4069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modelo é avaliado em 2020–2021, que não viu no treino</a:t>
            </a:r>
            <a:endParaRPr lang="en-US" sz="1150" dirty="0"/>
          </a:p>
        </p:txBody>
      </p:sp>
      <p:sp>
        <p:nvSpPr>
          <p:cNvPr id="26" name="Text 24"/>
          <p:cNvSpPr txBox="1"/>
          <p:nvPr/>
        </p:nvSpPr>
        <p:spPr>
          <a:xfrm>
            <a:off x="6355080" y="4581144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ENTÃO</a:t>
            </a:r>
            <a:endParaRPr lang="en-US" sz="1000" dirty="0"/>
          </a:p>
        </p:txBody>
      </p:sp>
      <p:sp>
        <p:nvSpPr>
          <p:cNvPr id="27" name="Text 25"/>
          <p:cNvSpPr txBox="1"/>
          <p:nvPr/>
        </p:nvSpPr>
        <p:spPr>
          <a:xfrm>
            <a:off x="7223760" y="4581144"/>
            <a:ext cx="4069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erro médio é de no máximo R$ 0,15/L e fica 25% abaixo do baseline nacional (R$ 0,20/L)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6355080" y="5440680"/>
            <a:ext cx="493776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B7DCD2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492240" y="5541264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Resultado: R$ 0,095/L · 52% abaixo do baseline</a:t>
            </a:r>
            <a:endParaRPr lang="en-US" sz="11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PARTE 1 · ENGENHARIA DE REQUISITOS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12064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1226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Revisão INVEST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060704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A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Independent · Negotiable · Valuable · Estimable · Small · Testable</a:t>
            </a:r>
            <a:endParaRPr lang="en-US" sz="1350" dirty="0"/>
          </a:p>
        </p:txBody>
      </p:sp>
      <p:sp>
        <p:nvSpPr>
          <p:cNvPr id="5" name="Text 3"/>
          <p:cNvSpPr txBox="1"/>
          <p:nvPr/>
        </p:nvSpPr>
        <p:spPr>
          <a:xfrm>
            <a:off x="11155680" y="647395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dirty="0">
                <a:solidFill>
                  <a:srgbClr val="9AAA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55448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A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das 14 stories passaram nas seis letras. As outras cinco têm a ressalva registrada, em vez de um checklist todo verde.</a:t>
            </a:r>
            <a:endParaRPr lang="en-US" sz="13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011680"/>
          <a:ext cx="11064240" cy="914400"/>
        </p:xfrm>
        <a:graphic>
          <a:graphicData uri="http://schemas.openxmlformats.org/drawingml/2006/table">
            <a:tbl>
              <a:tblPr/>
              <a:tblGrid>
                <a:gridCol w="1034041"/>
                <a:gridCol w="1240849"/>
                <a:gridCol w="8789350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Story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6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Letra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6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Ressalva e tratamento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63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US04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9A5B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Precisa de uma seleção de agências como entrada; testável isoladamente com uma lista fixa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US06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9A5B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Exibe o que a US05 calcula; a dependência é de dado, não de entrega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US11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9A5B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Modelo é experimento; o baseline medido antes de estimar reduziu a incerteza. Fechou em 8 pontos no Poker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US12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9A5B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E, 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Podia não caber numa sprint; no Poker o escopo foi limitado a vizinho mais próximo + 2-opt, para caber em 8 pontos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US14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9A5B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I, E, 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Depende de fonte com publicação automatizada; os 5 pontos do Poker são ordem de grandeza, a rever depois de avaliar a fonte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548640" y="5257800"/>
            <a:ext cx="11064240" cy="566928"/>
          </a:xfrm>
          <a:prstGeom prst="roundRect">
            <a:avLst>
              <a:gd name="adj" fmla="val 8065"/>
            </a:avLst>
          </a:prstGeom>
          <a:solidFill>
            <a:srgbClr val="12263A"/>
          </a:solidFill>
          <a:ln w="12700">
            <a:solidFill>
              <a:srgbClr val="12263A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822960" y="5413248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F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Nenhuma story precisou ser reescrita. As cinco ressalvas foram revistas no Planning Poker, com o registro em docs/planejamento.md.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PARTE 1 · ENGENHARIA DE REQUISITOS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12064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1226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Requisitos funcionais e não funcionais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060704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A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requisito aponta para as stories que o realizam</a:t>
            </a:r>
            <a:endParaRPr lang="en-US" sz="1350" dirty="0"/>
          </a:p>
        </p:txBody>
      </p:sp>
      <p:sp>
        <p:nvSpPr>
          <p:cNvPr id="5" name="Text 3"/>
          <p:cNvSpPr txBox="1"/>
          <p:nvPr/>
        </p:nvSpPr>
        <p:spPr>
          <a:xfrm>
            <a:off x="11155680" y="647395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dirty="0">
                <a:solidFill>
                  <a:srgbClr val="9AAA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5349240" cy="914400"/>
        </p:xfrm>
        <a:graphic>
          <a:graphicData uri="http://schemas.openxmlformats.org/drawingml/2006/table">
            <a:tbl>
              <a:tblPr/>
              <a:tblGrid>
                <a:gridCol w="679269"/>
                <a:gridCol w="3566160"/>
                <a:gridCol w="1103811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RF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6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Requisito funcional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6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Stories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63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RF01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Listar e filtrar agências da regional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US01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RF02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Receber origem, período, janela e modais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US02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RF03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Bloquear quando a agenda não comporta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US02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RF04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Objetivo: custo, tempo ou peso ajustável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US03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RF05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Gerar sequência distribuída em dias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US04, US12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RF06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Recomendar um modal por trecho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US05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RF07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Exibir trecho e alternativas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US06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RF08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Calcular totais, diárias e economia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US07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RF09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Calcular o cenário de referência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US08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RF10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Salvar, reabrir e exportar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US09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72200" y="1554480"/>
          <a:ext cx="5440680" cy="914400"/>
        </p:xfrm>
        <a:graphic>
          <a:graphicData uri="http://schemas.openxmlformats.org/drawingml/2006/table">
            <a:tbl>
              <a:tblPr/>
              <a:tblGrid>
                <a:gridCol w="659476"/>
                <a:gridCol w="1236518"/>
                <a:gridCol w="2555471"/>
                <a:gridCol w="989215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RNF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6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Categoria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6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Requisito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6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Stories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63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RNF01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Desempenho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Até 40 agências em no máximo 2 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US04, US05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RNF02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Disponibilidade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Funciona sem internet e sem servidor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Todas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RNF03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Explicabilidade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Todo modal mostra motivo e alternativas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US05, US06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RNF04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Transparência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Dado simulado sempre identificado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US07, US10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RNF05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Desempenho do modelo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MAE do preço até R$ 0,15/L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US11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RNF06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Robustez a drift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Reavaliar a cada atualização; alerta acima de R$ 0,25/L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US11, US14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RNF07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Reprodutibilidade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Mesma entrada, mesma saída (sementes fixas)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US10, US11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RNF08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Privacidade (LGPD)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Nenhum dado pessoal no MVP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Todas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PARTE 1 · ENGENHARIA DE REQUISITOS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12064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1226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Requisitos de dados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060704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A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terceiro tipo de requisito, que só existe em projetos de ML</a:t>
            </a:r>
            <a:endParaRPr lang="en-US" sz="1350" dirty="0"/>
          </a:p>
        </p:txBody>
      </p:sp>
      <p:sp>
        <p:nvSpPr>
          <p:cNvPr id="5" name="Text 3"/>
          <p:cNvSpPr txBox="1"/>
          <p:nvPr/>
        </p:nvSpPr>
        <p:spPr>
          <a:xfrm>
            <a:off x="11155680" y="647395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dirty="0">
                <a:solidFill>
                  <a:srgbClr val="9AAA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548640" y="1572768"/>
            <a:ext cx="11064240" cy="777240"/>
          </a:xfrm>
          <a:prstGeom prst="roundRect">
            <a:avLst>
              <a:gd name="adj" fmla="val 5882"/>
            </a:avLst>
          </a:prstGeom>
          <a:solidFill>
            <a:srgbClr val="F4F7FA"/>
          </a:solidFill>
          <a:ln w="12700">
            <a:solidFill>
              <a:srgbClr val="D9E0E8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1819656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Fontes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3017520" y="1691640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Cadastro de agências do Banco Central (posição 29/11/2024) · série semanal de preços da ANP (2004–2021) · bases públicas de municípios e bairros · base consolidada do grupo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548640" y="2468880"/>
            <a:ext cx="11064240" cy="777240"/>
          </a:xfrm>
          <a:prstGeom prst="roundRect">
            <a:avLst>
              <a:gd name="adj" fmla="val 5882"/>
            </a:avLst>
          </a:prstGeom>
          <a:solidFill>
            <a:srgbClr val="F4F7FA"/>
          </a:solidFill>
          <a:ln w="12700">
            <a:solidFill>
              <a:srgbClr val="D9E0E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22960" y="2715768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Volume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3017520" y="258775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16.552 agências no país, 2.010 no recorte Itaú Unibanco · 23.570 registros de gasolina comum em 27 estados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548640" y="3364992"/>
            <a:ext cx="11064240" cy="777240"/>
          </a:xfrm>
          <a:prstGeom prst="roundRect">
            <a:avLst>
              <a:gd name="adj" fmla="val 5882"/>
            </a:avLst>
          </a:prstGeom>
          <a:solidFill>
            <a:srgbClr val="F4F7FA"/>
          </a:solidFill>
          <a:ln w="12700">
            <a:solidFill>
              <a:srgbClr val="D9E0E8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22960" y="361188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Qualidade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3017520" y="3483864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Coordenada para 100% das agências · bairro validado contra o município (até 30 km) · texto padronizado · preços fora de escala descartados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548640" y="4261104"/>
            <a:ext cx="11064240" cy="777240"/>
          </a:xfrm>
          <a:prstGeom prst="roundRect">
            <a:avLst>
              <a:gd name="adj" fmla="val 5882"/>
            </a:avLst>
          </a:prstGeom>
          <a:solidFill>
            <a:srgbClr val="F4F7FA"/>
          </a:solidFill>
          <a:ln w="12700">
            <a:solidFill>
              <a:srgbClr val="D9E0E8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22960" y="450799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Atualização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3017520" y="4379976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Agências a cada publicação do Bacen · preços semanais na fonte, mas a série disponível para em maio/2021 — limitação tratada pela US11 e pela US14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548640" y="5157216"/>
            <a:ext cx="11064240" cy="777240"/>
          </a:xfrm>
          <a:prstGeom prst="roundRect">
            <a:avLst>
              <a:gd name="adj" fmla="val 5882"/>
            </a:avLst>
          </a:prstGeom>
          <a:solidFill>
            <a:srgbClr val="FBF0DF"/>
          </a:solidFill>
          <a:ln w="12700">
            <a:solidFill>
              <a:srgbClr val="EBD9BC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22960" y="5404104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9A5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Restrições e LGPD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3017520" y="5276088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Bases públicas, de pessoa jurídica. Prioridade e prazo de visita são simulados por não existirem em base pública. Em produção, agenda e histórico do gerente seriam dados pessoais</a:t>
            </a:r>
            <a:endParaRPr lang="en-US" sz="11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PARTE 2 · ARQUITETURA E SOLID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12064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1226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Arquitetura de referência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060704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A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Ingestão, preparação, treino e serving — um módulo por responsabilidade</a:t>
            </a:r>
            <a:endParaRPr lang="en-US" sz="1350" dirty="0"/>
          </a:p>
        </p:txBody>
      </p:sp>
      <p:sp>
        <p:nvSpPr>
          <p:cNvPr id="5" name="Text 3"/>
          <p:cNvSpPr txBox="1"/>
          <p:nvPr/>
        </p:nvSpPr>
        <p:spPr>
          <a:xfrm>
            <a:off x="11155680" y="647395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dirty="0">
                <a:solidFill>
                  <a:srgbClr val="9AAA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548640" y="1828800"/>
            <a:ext cx="1874520" cy="658368"/>
          </a:xfrm>
          <a:prstGeom prst="roundRect">
            <a:avLst>
              <a:gd name="adj" fmla="val 6944"/>
            </a:avLst>
          </a:prstGeom>
          <a:solidFill>
            <a:srgbClr val="F4F7FA"/>
          </a:solidFill>
          <a:ln w="12700">
            <a:solidFill>
              <a:srgbClr val="D9E0E8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40080" y="1828800"/>
            <a:ext cx="1691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Agências · Bacen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48640" y="2697480"/>
            <a:ext cx="1874520" cy="658368"/>
          </a:xfrm>
          <a:prstGeom prst="roundRect">
            <a:avLst>
              <a:gd name="adj" fmla="val 6944"/>
            </a:avLst>
          </a:prstGeom>
          <a:solidFill>
            <a:srgbClr val="F4F7FA"/>
          </a:solidFill>
          <a:ln w="12700">
            <a:solidFill>
              <a:srgbClr val="D9E0E8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40080" y="2697480"/>
            <a:ext cx="1691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Preços · ANP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48640" y="3566160"/>
            <a:ext cx="1874520" cy="658368"/>
          </a:xfrm>
          <a:prstGeom prst="roundRect">
            <a:avLst>
              <a:gd name="adj" fmla="val 6944"/>
            </a:avLst>
          </a:prstGeom>
          <a:solidFill>
            <a:srgbClr val="F4F7FA"/>
          </a:solidFill>
          <a:ln w="12700">
            <a:solidFill>
              <a:srgbClr val="D9E0E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40080" y="3566160"/>
            <a:ext cx="1691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Municípios, bairros, estados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2788920" y="1737360"/>
            <a:ext cx="1783080" cy="2651760"/>
          </a:xfrm>
          <a:prstGeom prst="roundRect">
            <a:avLst>
              <a:gd name="adj" fmla="val 2564"/>
            </a:avLst>
          </a:prstGeom>
          <a:solidFill>
            <a:srgbClr val="FFFFFF"/>
          </a:solidFill>
          <a:ln w="12700">
            <a:solidFill>
              <a:srgbClr val="12263A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2880360" y="1874520"/>
            <a:ext cx="1600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INGESTÃO</a:t>
            </a:r>
            <a:endParaRPr lang="en-US" sz="950" dirty="0"/>
          </a:p>
        </p:txBody>
      </p:sp>
      <p:sp>
        <p:nvSpPr>
          <p:cNvPr id="14" name="Text 12"/>
          <p:cNvSpPr txBox="1"/>
          <p:nvPr/>
        </p:nvSpPr>
        <p:spPr>
          <a:xfrm>
            <a:off x="2880360" y="2148840"/>
            <a:ext cx="1600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226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ingest.py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2898648" y="2651760"/>
            <a:ext cx="156362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A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DataSource (abstração)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5A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carregar e validar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2633472" y="2926080"/>
            <a:ext cx="137160" cy="228600"/>
          </a:xfrm>
          <a:prstGeom prst="rightArrow">
            <a:avLst/>
          </a:prstGeom>
          <a:solidFill>
            <a:srgbClr val="9AAAB8"/>
          </a:solidFill>
          <a:ln w="12700">
            <a:solidFill>
              <a:srgbClr val="9AAAB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754880" y="1737360"/>
            <a:ext cx="1783080" cy="2651760"/>
          </a:xfrm>
          <a:prstGeom prst="roundRect">
            <a:avLst>
              <a:gd name="adj" fmla="val 2564"/>
            </a:avLst>
          </a:prstGeom>
          <a:solidFill>
            <a:srgbClr val="FFFFFF"/>
          </a:solidFill>
          <a:ln w="12700">
            <a:solidFill>
              <a:srgbClr val="12263A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4846320" y="1874520"/>
            <a:ext cx="1600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PREPARAÇÃO</a:t>
            </a:r>
            <a:endParaRPr lang="en-US" sz="950" dirty="0"/>
          </a:p>
        </p:txBody>
      </p:sp>
      <p:sp>
        <p:nvSpPr>
          <p:cNvPr id="19" name="Text 17"/>
          <p:cNvSpPr txBox="1"/>
          <p:nvPr/>
        </p:nvSpPr>
        <p:spPr>
          <a:xfrm>
            <a:off x="4846320" y="2148840"/>
            <a:ext cx="1600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226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features.py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4864608" y="2651760"/>
            <a:ext cx="156362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A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coordenadas em 3 níveis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5A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atributos do modelo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4599432" y="2926080"/>
            <a:ext cx="137160" cy="228600"/>
          </a:xfrm>
          <a:prstGeom prst="rightArrow">
            <a:avLst/>
          </a:prstGeom>
          <a:solidFill>
            <a:srgbClr val="9AAAB8"/>
          </a:solidFill>
          <a:ln w="12700">
            <a:solidFill>
              <a:srgbClr val="9AAAB8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720840" y="1737360"/>
            <a:ext cx="1783080" cy="2651760"/>
          </a:xfrm>
          <a:prstGeom prst="roundRect">
            <a:avLst>
              <a:gd name="adj" fmla="val 2564"/>
            </a:avLst>
          </a:prstGeom>
          <a:solidFill>
            <a:srgbClr val="E4F1ED"/>
          </a:solidFill>
          <a:ln w="12700">
            <a:solidFill>
              <a:srgbClr val="B7DCD2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812280" y="1874520"/>
            <a:ext cx="1600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TREINO</a:t>
            </a:r>
            <a:endParaRPr lang="en-US" sz="950" dirty="0"/>
          </a:p>
        </p:txBody>
      </p:sp>
      <p:sp>
        <p:nvSpPr>
          <p:cNvPr id="24" name="Text 22"/>
          <p:cNvSpPr txBox="1"/>
          <p:nvPr/>
        </p:nvSpPr>
        <p:spPr>
          <a:xfrm>
            <a:off x="6812280" y="2148840"/>
            <a:ext cx="1600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226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train.py</a:t>
            </a:r>
            <a:endParaRPr lang="en-US" sz="1500" dirty="0"/>
          </a:p>
        </p:txBody>
      </p:sp>
      <p:sp>
        <p:nvSpPr>
          <p:cNvPr id="25" name="Text 23"/>
          <p:cNvSpPr txBox="1"/>
          <p:nvPr/>
        </p:nvSpPr>
        <p:spPr>
          <a:xfrm>
            <a:off x="6830568" y="2651760"/>
            <a:ext cx="156362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A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k-means das regionais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5A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regressão do preço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6565392" y="2926080"/>
            <a:ext cx="137160" cy="228600"/>
          </a:xfrm>
          <a:prstGeom prst="rightArrow">
            <a:avLst/>
          </a:prstGeom>
          <a:solidFill>
            <a:srgbClr val="9AAAB8"/>
          </a:solidFill>
          <a:ln w="12700">
            <a:solidFill>
              <a:srgbClr val="9AAAB8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8686800" y="1737360"/>
            <a:ext cx="1783080" cy="2651760"/>
          </a:xfrm>
          <a:prstGeom prst="roundRect">
            <a:avLst>
              <a:gd name="adj" fmla="val 2564"/>
            </a:avLst>
          </a:prstGeom>
          <a:solidFill>
            <a:srgbClr val="FFFFFF"/>
          </a:solidFill>
          <a:ln w="12700">
            <a:solidFill>
              <a:srgbClr val="12263A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8778240" y="1874520"/>
            <a:ext cx="1600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SERVING</a:t>
            </a:r>
            <a:endParaRPr lang="en-US" sz="950" dirty="0"/>
          </a:p>
        </p:txBody>
      </p:sp>
      <p:sp>
        <p:nvSpPr>
          <p:cNvPr id="29" name="Text 27"/>
          <p:cNvSpPr txBox="1"/>
          <p:nvPr/>
        </p:nvSpPr>
        <p:spPr>
          <a:xfrm>
            <a:off x="8778240" y="2148840"/>
            <a:ext cx="1600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226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serve.py</a:t>
            </a:r>
            <a:endParaRPr lang="en-US" sz="1500" dirty="0"/>
          </a:p>
        </p:txBody>
      </p:sp>
      <p:sp>
        <p:nvSpPr>
          <p:cNvPr id="30" name="Text 28"/>
          <p:cNvSpPr txBox="1"/>
          <p:nvPr/>
        </p:nvSpPr>
        <p:spPr>
          <a:xfrm>
            <a:off x="8796528" y="2651760"/>
            <a:ext cx="156362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A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modais e custo por trecho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5A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preço por estado, pacote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8531352" y="2926080"/>
            <a:ext cx="137160" cy="228600"/>
          </a:xfrm>
          <a:prstGeom prst="rightArrow">
            <a:avLst/>
          </a:prstGeom>
          <a:solidFill>
            <a:srgbClr val="9AAAB8"/>
          </a:solidFill>
          <a:ln w="12700">
            <a:solidFill>
              <a:srgbClr val="9AAAB8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10652760" y="2377440"/>
            <a:ext cx="960120" cy="1371600"/>
          </a:xfrm>
          <a:prstGeom prst="roundRect">
            <a:avLst>
              <a:gd name="adj" fmla="val 4762"/>
            </a:avLst>
          </a:prstGeom>
          <a:solidFill>
            <a:srgbClr val="12263A"/>
          </a:solidFill>
          <a:ln w="12700">
            <a:solidFill>
              <a:srgbClr val="12263A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10652760" y="2377440"/>
            <a:ext cx="9601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Protótipo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HTML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10497312" y="2926080"/>
            <a:ext cx="137160" cy="228600"/>
          </a:xfrm>
          <a:prstGeom prst="rightArrow">
            <a:avLst/>
          </a:prstGeom>
          <a:solidFill>
            <a:srgbClr val="9AAAB8"/>
          </a:solidFill>
          <a:ln w="12700">
            <a:solidFill>
              <a:srgbClr val="9AAAB8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2788920" y="4572000"/>
            <a:ext cx="7680960" cy="502920"/>
          </a:xfrm>
          <a:prstGeom prst="roundRect">
            <a:avLst>
              <a:gd name="adj" fmla="val 9091"/>
            </a:avLst>
          </a:prstGeom>
          <a:solidFill>
            <a:srgbClr val="F4F7FA"/>
          </a:solidFill>
          <a:ln w="12700">
            <a:solidFill>
              <a:srgbClr val="D9E0E8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2926080" y="4681728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pipeline.py — orquestra os quatro e é o único ponto que conhece as fontes concretas</a:t>
            </a:r>
            <a:endParaRPr lang="en-US" sz="11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5349240"/>
          <a:ext cx="11064240" cy="914400"/>
        </p:xfrm>
        <a:graphic>
          <a:graphicData uri="http://schemas.openxmlformats.org/drawingml/2006/table">
            <a:tbl>
              <a:tblPr/>
              <a:tblGrid>
                <a:gridCol w="1475232"/>
                <a:gridCol w="3042666"/>
                <a:gridCol w="3042666"/>
                <a:gridCol w="3503676"/>
              </a:tblGrid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Estágio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6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Roda quando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6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Entra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6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63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Treino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Por sprint ou nova série de preços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Atributos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Regionais e modelo de preço, com métricas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Serving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cada planejamento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Modelos e tabelas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Custo, tempo e modal por trecho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PARTE 2 · ARQUITETURA E SOLID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12064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1226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Os cinco princípios SOLID, onde e por quê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060704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A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princípio resolveu um problema concreto do código anterior</a:t>
            </a:r>
            <a:endParaRPr lang="en-US" sz="1350" dirty="0"/>
          </a:p>
        </p:txBody>
      </p:sp>
      <p:sp>
        <p:nvSpPr>
          <p:cNvPr id="5" name="Text 3"/>
          <p:cNvSpPr txBox="1"/>
          <p:nvPr/>
        </p:nvSpPr>
        <p:spPr>
          <a:xfrm>
            <a:off x="11155680" y="647395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dirty="0">
                <a:solidFill>
                  <a:srgbClr val="9AAA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5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64240" cy="914400"/>
        </p:xfrm>
        <a:graphic>
          <a:graphicData uri="http://schemas.openxmlformats.org/drawingml/2006/table">
            <a:tbl>
              <a:tblPr/>
              <a:tblGrid>
                <a:gridCol w="2028444"/>
                <a:gridCol w="2950464"/>
                <a:gridCol w="6085332"/>
              </a:tblGrid>
              <a:tr h="7498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Princípio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6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Onde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6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Problema que resolveu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63A"/>
                    </a:solidFill>
                  </a:tcPr>
                </a:tc>
              </a:tr>
              <a:tr h="7498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 · Responsabilidade única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ingest, features, train, serve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Cada script numerado misturava leitura, transformação e cálculo. Mudar o Excel do Bacen mexia no mesmo arquivo que formava as regionais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</a:tr>
              <a:tr h="7498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 · Aberto/fechado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Classes Modal e EstimadorPreco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Trem, ou um modelo de preço novo, entra como classe nova; comparar_modais não muda. Há teste provando isso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498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 · Substituição de Liskov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Três estimadores de preço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Baseline, efeito médio e Ridge são intercambiáveis: o treino avalia os três com a mesma função e escolhe o melhor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</a:tr>
              <a:tr h="7498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 · Segregação de interface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DataSource, EstimadorPreco, Modal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Interfaces de um a dois métodos: um teste cria uma implementação falsa em três linhas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498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 · Inversão de dependência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DataSource; Carro recebe o preço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Carga e treino não sabem se o dado vem de Excel, API ou memória. Só o pipeline.py escolhe a fonte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PARTE 2 · ARQUITETURA E SOLID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12064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1226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Inversão de Dependência na prática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060704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A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exemplo DataSource que a Aula 5 pede</a:t>
            </a:r>
            <a:endParaRPr lang="en-US" sz="1350" dirty="0"/>
          </a:p>
        </p:txBody>
      </p:sp>
      <p:sp>
        <p:nvSpPr>
          <p:cNvPr id="5" name="Text 3"/>
          <p:cNvSpPr txBox="1"/>
          <p:nvPr/>
        </p:nvSpPr>
        <p:spPr>
          <a:xfrm>
            <a:off x="11155680" y="647395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dirty="0">
                <a:solidFill>
                  <a:srgbClr val="9AAA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548640" y="1600200"/>
            <a:ext cx="5394960" cy="3383280"/>
          </a:xfrm>
          <a:prstGeom prst="roundRect">
            <a:avLst>
              <a:gd name="adj" fmla="val 1351"/>
            </a:avLst>
          </a:prstGeom>
          <a:solidFill>
            <a:srgbClr val="1B2B3C"/>
          </a:solidFill>
          <a:ln w="12700">
            <a:solidFill>
              <a:srgbClr val="1B2B3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77240" y="1719072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7FC4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ingest.py — a abstração e quem depende dela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2103120"/>
            <a:ext cx="498348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 DataSource(ABC):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@abstractmethod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def load(self) -&gt; DataFrame: ...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 carregar_agencias(fonte: DataSource):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df = limpar_texto(fonte.load())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exigir_colunas(df, COLUNAS, ...)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df[df.nome_instituicao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== "ITAÚ UNIBANCO S.A."]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217920" y="1600200"/>
            <a:ext cx="5394960" cy="3383280"/>
          </a:xfrm>
          <a:prstGeom prst="roundRect">
            <a:avLst>
              <a:gd name="adj" fmla="val 1351"/>
            </a:avLst>
          </a:prstGeom>
          <a:solidFill>
            <a:srgbClr val="1B2B3C"/>
          </a:solidFill>
          <a:ln w="12700">
            <a:solidFill>
              <a:srgbClr val="1B2B3C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446520" y="1719072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F2C4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Duas fontes, a mesma função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6446520" y="2103120"/>
            <a:ext cx="498348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pipeline.py — produção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carregar_agencias(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ExcelSource("consolidada.xlsx",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"Agencias_Geocodificadas"))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tests/test_ingest.py — sem arquivo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carregar_agencias(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MemorySource(DataFrame([...])))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48640" y="5257800"/>
            <a:ext cx="11064240" cy="566928"/>
          </a:xfrm>
          <a:prstGeom prst="roundRect">
            <a:avLst>
              <a:gd name="adj" fmla="val 8065"/>
            </a:avLst>
          </a:prstGeom>
          <a:solidFill>
            <a:srgbClr val="12263A"/>
          </a:solidFill>
          <a:ln w="12700">
            <a:solidFill>
              <a:srgbClr val="12263A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22960" y="5413248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F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Trocar a planilha por uma API do Banco Central é escrever uma ApiBacenSource e mudar uma linha do pipeline.py. Treino e serving não mudam.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PARTE 2 · ARQUITETURA E SOLID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12064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1226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Pipeline validado: a mesma saída da versão anterior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060704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A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Etapa 4 da Aula 5 — e, no caminho, dois defeitos que estavam escondidos</a:t>
            </a:r>
            <a:endParaRPr lang="en-US" sz="1350" dirty="0"/>
          </a:p>
        </p:txBody>
      </p:sp>
      <p:sp>
        <p:nvSpPr>
          <p:cNvPr id="5" name="Text 3"/>
          <p:cNvSpPr txBox="1"/>
          <p:nvPr/>
        </p:nvSpPr>
        <p:spPr>
          <a:xfrm>
            <a:off x="11155680" y="647395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dirty="0">
                <a:solidFill>
                  <a:srgbClr val="9AAA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57276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Código novo, com os defeitos antigos reativados</a:t>
            </a:r>
            <a:endParaRPr lang="en-US" sz="13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920240"/>
          <a:ext cx="539496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1463040"/>
                <a:gridCol w="1554480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Indicador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6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Antes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6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Código novo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63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Agências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2.040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2.040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Regionais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Mediana / mín / máx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 / 4 / 40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 / 4 / 40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Coordenada de bairro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72,0%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72,0%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548640" y="4114800"/>
            <a:ext cx="5394960" cy="685800"/>
          </a:xfrm>
          <a:prstGeom prst="roundRect">
            <a:avLst>
              <a:gd name="adj" fmla="val 6667"/>
            </a:avLst>
          </a:prstGeom>
          <a:solidFill>
            <a:srgbClr val="E4F1ED"/>
          </a:solidFill>
          <a:ln w="12700">
            <a:solidFill>
              <a:srgbClr val="B7DCD2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77240" y="4224528"/>
            <a:ext cx="4937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 idêntico: toda diferença na versão final vem das correções ao lado.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6217920" y="1572768"/>
            <a:ext cx="5394960" cy="1481328"/>
          </a:xfrm>
          <a:prstGeom prst="roundRect">
            <a:avLst>
              <a:gd name="adj" fmla="val 3086"/>
            </a:avLst>
          </a:prstGeom>
          <a:solidFill>
            <a:srgbClr val="FBECEA"/>
          </a:solidFill>
          <a:ln w="12700">
            <a:solidFill>
              <a:srgbClr val="EFC9C4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6446520" y="1728216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A327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Filtro de instituição</a:t>
            </a:r>
            <a:endParaRPr lang="en-US" sz="1300" dirty="0"/>
          </a:p>
        </p:txBody>
      </p:sp>
      <p:sp>
        <p:nvSpPr>
          <p:cNvPr id="12" name="Text 9"/>
          <p:cNvSpPr txBox="1"/>
          <p:nvPr/>
        </p:nvSpPr>
        <p:spPr>
          <a:xfrm>
            <a:off x="6446520" y="2048256"/>
            <a:ext cx="4937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trecho "ITA" trazia 30 registros que não são agências, como "Trinus CAPITAL" e "Galapagos CAPITAL".</a:t>
            </a:r>
            <a:endParaRPr lang="en-US" sz="1150" dirty="0"/>
          </a:p>
        </p:txBody>
      </p:sp>
      <p:sp>
        <p:nvSpPr>
          <p:cNvPr id="13" name="Text 10"/>
          <p:cNvSpPr txBox="1"/>
          <p:nvPr/>
        </p:nvSpPr>
        <p:spPr>
          <a:xfrm>
            <a:off x="6446520" y="2642616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Correção: Nome exato: 2.010 agências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6217920" y="3236976"/>
            <a:ext cx="5394960" cy="1481328"/>
          </a:xfrm>
          <a:prstGeom prst="roundRect">
            <a:avLst>
              <a:gd name="adj" fmla="val 3086"/>
            </a:avLst>
          </a:prstGeom>
          <a:solidFill>
            <a:srgbClr val="FBECEA"/>
          </a:solidFill>
          <a:ln w="12700">
            <a:solidFill>
              <a:srgbClr val="EFC9C4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446520" y="3392424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A327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Regra de abreviação</a:t>
            </a:r>
            <a:endParaRPr lang="en-US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6446520" y="3712464"/>
            <a:ext cx="4937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expansão de "S." para "SÃO" transformava "SANTA CATARINA" em "SAO ANTA CATARINA".</a:t>
            </a:r>
            <a:endParaRPr lang="en-US" sz="1150" dirty="0"/>
          </a:p>
        </p:txBody>
      </p:sp>
      <p:sp>
        <p:nvSpPr>
          <p:cNvPr id="17" name="Text 14"/>
          <p:cNvSpPr txBox="1"/>
          <p:nvPr/>
        </p:nvSpPr>
        <p:spPr>
          <a:xfrm>
            <a:off x="6446520" y="4306824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Correção: Só expande palavra inteira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548640" y="5120640"/>
            <a:ext cx="11064240" cy="566928"/>
          </a:xfrm>
          <a:prstGeom prst="roundRect">
            <a:avLst>
              <a:gd name="adj" fmla="val 8065"/>
            </a:avLst>
          </a:prstGeom>
          <a:solidFill>
            <a:srgbClr val="12263A"/>
          </a:solidFill>
          <a:ln w="12700">
            <a:solidFill>
              <a:srgbClr val="12263A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822960" y="5276088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F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Versão final: 2.010 agências · 105 regionais · 74,7% com coordenada de bairro · 290 coordenadas descartadas pela regra dos 30 km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PARTE 2 · ARQUITETURA E SOLID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12064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1226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US11 verificada: o critério de métrica do modelo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060704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A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Regressão Ridge do preço da gasolina por estado, com validação temporal sobre a série da ANP</a:t>
            </a:r>
            <a:endParaRPr lang="en-US" sz="1350" dirty="0"/>
          </a:p>
        </p:txBody>
      </p:sp>
      <p:sp>
        <p:nvSpPr>
          <p:cNvPr id="5" name="Text 3"/>
          <p:cNvSpPr txBox="1"/>
          <p:nvPr/>
        </p:nvSpPr>
        <p:spPr>
          <a:xfrm>
            <a:off x="11155680" y="647395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dirty="0">
                <a:solidFill>
                  <a:srgbClr val="9AAA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50" dirty="0"/>
          </a:p>
        </p:txBody>
      </p:sp>
      <p:pic>
        <p:nvPicPr>
          <p:cNvPr id="6" name="Image 0" descr="/home/claude/projeto-varela/docs/img/erro_modelo_por_m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08760"/>
            <a:ext cx="6949440" cy="3337560"/>
          </a:xfrm>
          <a:prstGeom prst="rect">
            <a:avLst/>
          </a:prstGeom>
        </p:spPr>
      </p:pic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26680" y="1600200"/>
          <a:ext cx="3886200" cy="914400"/>
        </p:xfrm>
        <a:graphic>
          <a:graphicData uri="http://schemas.openxmlformats.org/drawingml/2006/table">
            <a:tbl>
              <a:tblPr/>
              <a:tblGrid>
                <a:gridCol w="2296391"/>
                <a:gridCol w="794905"/>
                <a:gridCol w="794905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6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6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RMSE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63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Baseline: preço nacional único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0,199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0,267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Nacional + efeito do estado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0,115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0,154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E7C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Regressão Ridge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0,095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0,129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</a:tr>
            </a:tbl>
          </a:graphicData>
        </a:graphic>
      </p:graphicFrame>
      <p:sp>
        <p:nvSpPr>
          <p:cNvPr id="8" name="Text 4"/>
          <p:cNvSpPr txBox="1"/>
          <p:nvPr/>
        </p:nvSpPr>
        <p:spPr>
          <a:xfrm>
            <a:off x="7726680" y="3520440"/>
            <a:ext cx="3886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i="1" dirty="0">
                <a:solidFill>
                  <a:srgbClr val="5A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R$ por litro. MAE: erro absoluto médio. RMSE: raiz do erro quadrático médio, que pesa mais os erros grandes.</a:t>
            </a:r>
            <a:endParaRPr lang="en-US" sz="950" dirty="0"/>
          </a:p>
        </p:txBody>
      </p:sp>
      <p:sp>
        <p:nvSpPr>
          <p:cNvPr id="9" name="Shape 5"/>
          <p:cNvSpPr/>
          <p:nvPr/>
        </p:nvSpPr>
        <p:spPr>
          <a:xfrm>
            <a:off x="7726680" y="4206240"/>
            <a:ext cx="3886200" cy="640080"/>
          </a:xfrm>
          <a:prstGeom prst="roundRect">
            <a:avLst>
              <a:gd name="adj" fmla="val 7143"/>
            </a:avLst>
          </a:prstGeom>
          <a:solidFill>
            <a:srgbClr val="E4F1ED"/>
          </a:solidFill>
          <a:ln w="12700">
            <a:solidFill>
              <a:srgbClr val="B7DCD2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7863840" y="4361688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52% menos erro que o baseline</a:t>
            </a:r>
            <a:endParaRPr lang="en-US" sz="1400" dirty="0"/>
          </a:p>
        </p:txBody>
      </p:sp>
      <p:sp>
        <p:nvSpPr>
          <p:cNvPr id="11" name="Text 7"/>
          <p:cNvSpPr txBox="1"/>
          <p:nvPr/>
        </p:nvSpPr>
        <p:spPr>
          <a:xfrm>
            <a:off x="548640" y="4983480"/>
            <a:ext cx="11064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100" b="1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que não embaralhar: </a:t>
            </a:r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5A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treino vai até dez/2019 e o teste começa em jan/2020. Embaralhar deixaria o modelo ver semanas futuras e inflaria o resultado.</a:t>
            </a:r>
            <a:endParaRPr lang="en-US" sz="11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00" b="1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Drift: </a:t>
            </a:r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5A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erro sobe no choque de preços da pandemia e chega ao pico em out/2020 — o princípio CACE da Aula 4 aparecendo nos dados.</a:t>
            </a:r>
            <a:endParaRPr lang="en-US" sz="11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00" b="1" dirty="0">
                <a:solidFill>
                  <a:srgbClr val="9A5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Limitação: </a:t>
            </a:r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5A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série acaba em 2021; o produto aplica a diferença de cada estado sobre o preço nacional atual.</a:t>
            </a:r>
            <a:endParaRPr lang="en-US" sz="11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00" b="1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Reproduzir: </a:t>
            </a:r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5A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k-means e regressão rodam no Google Colab, com os mesmos dados e testes — colab.research.google.com/github/davi-cassiano/Projeto-Varela/blob/main/notebooks/modelos.ipynb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PARTE 2 · ARQUITETURA E SOLID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12064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1226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Testes, commits e pull request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060704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A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Definição de pronto da Aula 5: módulos com SRP, inversão de dependência, pipeline validado e PR revisado</a:t>
            </a:r>
            <a:endParaRPr lang="en-US" sz="1350" dirty="0"/>
          </a:p>
        </p:txBody>
      </p:sp>
      <p:sp>
        <p:nvSpPr>
          <p:cNvPr id="5" name="Text 3"/>
          <p:cNvSpPr txBox="1"/>
          <p:nvPr/>
        </p:nvSpPr>
        <p:spPr>
          <a:xfrm>
            <a:off x="11155680" y="647395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dirty="0">
                <a:solidFill>
                  <a:srgbClr val="9AAA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548640" y="1600200"/>
            <a:ext cx="2606040" cy="1417320"/>
          </a:xfrm>
          <a:prstGeom prst="roundRect">
            <a:avLst>
              <a:gd name="adj" fmla="val 3226"/>
            </a:avLst>
          </a:prstGeom>
          <a:solidFill>
            <a:srgbClr val="F4F7FA"/>
          </a:solidFill>
          <a:ln w="12700">
            <a:solidFill>
              <a:srgbClr val="D9E0E8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77240" y="173736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0E7C6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23</a:t>
            </a:r>
            <a:endParaRPr lang="en-US" sz="300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233172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testes com pytest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777240" y="260604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A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 arquivo por módulo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3355848" y="1600200"/>
            <a:ext cx="2606040" cy="1417320"/>
          </a:xfrm>
          <a:prstGeom prst="roundRect">
            <a:avLst>
              <a:gd name="adj" fmla="val 3226"/>
            </a:avLst>
          </a:prstGeom>
          <a:solidFill>
            <a:srgbClr val="F4F7FA"/>
          </a:solidFill>
          <a:ln w="12700">
            <a:solidFill>
              <a:srgbClr val="D9E0E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584448" y="173736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0E7C6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14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3584448" y="233172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commits pequenos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3584448" y="260604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A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 por módulo, depois docs e revisão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6163056" y="1600200"/>
            <a:ext cx="2606040" cy="1417320"/>
          </a:xfrm>
          <a:prstGeom prst="roundRect">
            <a:avLst>
              <a:gd name="adj" fmla="val 3226"/>
            </a:avLst>
          </a:prstGeom>
          <a:solidFill>
            <a:srgbClr val="12263A"/>
          </a:solidFill>
          <a:ln w="12700">
            <a:solidFill>
              <a:srgbClr val="12263A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391656" y="173736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7FC4B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#15</a:t>
            </a:r>
            <a:endParaRPr lang="en-US" sz="3000" dirty="0"/>
          </a:p>
        </p:txBody>
      </p:sp>
      <p:sp>
        <p:nvSpPr>
          <p:cNvPr id="16" name="Text 14"/>
          <p:cNvSpPr txBox="1"/>
          <p:nvPr/>
        </p:nvSpPr>
        <p:spPr>
          <a:xfrm>
            <a:off x="6391656" y="233172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pull request</a:t>
            </a:r>
            <a:endParaRPr lang="en-US" sz="1250" dirty="0"/>
          </a:p>
        </p:txBody>
      </p:sp>
      <p:sp>
        <p:nvSpPr>
          <p:cNvPr id="17" name="Text 15"/>
          <p:cNvSpPr txBox="1"/>
          <p:nvPr/>
        </p:nvSpPr>
        <p:spPr>
          <a:xfrm>
            <a:off x="6391656" y="260604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CF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as Issues #10 e #11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8970264" y="1600200"/>
            <a:ext cx="2606040" cy="1417320"/>
          </a:xfrm>
          <a:prstGeom prst="roundRect">
            <a:avLst>
              <a:gd name="adj" fmla="val 3226"/>
            </a:avLst>
          </a:prstGeom>
          <a:solidFill>
            <a:srgbClr val="F4F7FA"/>
          </a:solidFill>
          <a:ln w="12700">
            <a:solidFill>
              <a:srgbClr val="D9E0E8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9198864" y="173736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0E7C6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 s</a:t>
            </a:r>
            <a:endParaRPr lang="en-US" sz="3000" dirty="0"/>
          </a:p>
        </p:txBody>
      </p:sp>
      <p:sp>
        <p:nvSpPr>
          <p:cNvPr id="20" name="Text 18"/>
          <p:cNvSpPr txBox="1"/>
          <p:nvPr/>
        </p:nvSpPr>
        <p:spPr>
          <a:xfrm>
            <a:off x="9198864" y="233172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completo</a:t>
            </a:r>
            <a:endParaRPr lang="en-US" sz="1250" dirty="0"/>
          </a:p>
        </p:txBody>
      </p:sp>
      <p:sp>
        <p:nvSpPr>
          <p:cNvPr id="21" name="Text 19"/>
          <p:cNvSpPr txBox="1"/>
          <p:nvPr/>
        </p:nvSpPr>
        <p:spPr>
          <a:xfrm>
            <a:off x="9198864" y="260604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A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-m src.pipeline</a:t>
            </a:r>
            <a:endParaRPr lang="en-US" sz="105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291840"/>
          <a:ext cx="11064240" cy="914400"/>
        </p:xfrm>
        <a:graphic>
          <a:graphicData uri="http://schemas.openxmlformats.org/drawingml/2006/table">
            <a:tbl>
              <a:tblPr/>
              <a:tblGrid>
                <a:gridCol w="2212848"/>
                <a:gridCol w="6236208"/>
                <a:gridCol w="2615184"/>
              </a:tblGrid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Arquivo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6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 que os testes garantem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6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Critério de aceite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63A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test_ingest.py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Fonte em memória substitui o Excel; corretoras fora do recorte; preço fora de escala descartado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US10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test_features.py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Mirandópolis a 530 km descartado; toda agência com coordenada; atributo sem vazamento do futuro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US10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test_train.py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Nenhuma regional fura teto ou piso; MAE ≤ R$ 0,15 e 25% abaixo do baseline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US01, US11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test_serve.py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Avião indisponível abaixo de 150 km; peso no custo escolhe o mais barato; modal novo sem alterar código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US03, US05, US11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3" name="Shape 20"/>
          <p:cNvSpPr/>
          <p:nvPr/>
        </p:nvSpPr>
        <p:spPr>
          <a:xfrm>
            <a:off x="548640" y="5623560"/>
            <a:ext cx="11064240" cy="566928"/>
          </a:xfrm>
          <a:prstGeom prst="roundRect">
            <a:avLst>
              <a:gd name="adj" fmla="val 8065"/>
            </a:avLst>
          </a:prstGeom>
          <a:solidFill>
            <a:srgbClr val="12263A"/>
          </a:solidFill>
          <a:ln w="12700">
            <a:solidFill>
              <a:srgbClr val="12263A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822960" y="5779008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F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Revisão do Davi, 3 comentários: preço fixo no código (corrigido) · corte temporal (testado) · regra dos 30 km (virou a Issue #16).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PARTE 3 · PLANEJAMENTO E RISCOS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12064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1226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WBS — Estrutura Analítica do Projeto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060704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A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Projeto → fases do CRISP-DM → entregáveis → pacotes de trabalho, cada um ligado a uma story</a:t>
            </a:r>
            <a:endParaRPr lang="en-US" sz="1350" dirty="0"/>
          </a:p>
        </p:txBody>
      </p:sp>
      <p:sp>
        <p:nvSpPr>
          <p:cNvPr id="5" name="Text 3"/>
          <p:cNvSpPr txBox="1"/>
          <p:nvPr/>
        </p:nvSpPr>
        <p:spPr>
          <a:xfrm>
            <a:off x="11155680" y="647395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dirty="0">
                <a:solidFill>
                  <a:srgbClr val="9AAA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4251960" y="1481328"/>
            <a:ext cx="3657600" cy="384048"/>
          </a:xfrm>
          <a:prstGeom prst="roundRect">
            <a:avLst>
              <a:gd name="adj" fmla="val 11905"/>
            </a:avLst>
          </a:prstGeom>
          <a:solidFill>
            <a:srgbClr val="12263A"/>
          </a:solidFill>
          <a:ln w="12700">
            <a:solidFill>
              <a:srgbClr val="12263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251960" y="1554480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Sistema de Roteirização de Visitas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48640" y="2057400"/>
            <a:ext cx="1481328" cy="411480"/>
          </a:xfrm>
          <a:prstGeom prst="roundRect">
            <a:avLst>
              <a:gd name="adj" fmla="val 11111"/>
            </a:avLst>
          </a:prstGeom>
          <a:solidFill>
            <a:srgbClr val="E4F1ED"/>
          </a:solidFill>
          <a:ln w="12700">
            <a:solidFill>
              <a:srgbClr val="B7DCD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48640" y="2130552"/>
            <a:ext cx="1481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Negócio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48640" y="2606040"/>
            <a:ext cx="1481328" cy="548640"/>
          </a:xfrm>
          <a:prstGeom prst="roundRect">
            <a:avLst>
              <a:gd name="adj" fmla="val 8333"/>
            </a:avLst>
          </a:prstGeom>
          <a:solidFill>
            <a:srgbClr val="F4F7FA"/>
          </a:solidFill>
          <a:ln w="12700">
            <a:solidFill>
              <a:srgbClr val="D9E0E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03504" y="2633472"/>
            <a:ext cx="13716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1.1 Definir persona e métricas · US07, US08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548640" y="3227832"/>
            <a:ext cx="1481328" cy="548640"/>
          </a:xfrm>
          <a:prstGeom prst="roundRect">
            <a:avLst>
              <a:gd name="adj" fmla="val 8333"/>
            </a:avLst>
          </a:prstGeom>
          <a:solidFill>
            <a:srgbClr val="F4F7FA"/>
          </a:solidFill>
          <a:ln w="12700">
            <a:solidFill>
              <a:srgbClr val="D9E0E8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03504" y="3255264"/>
            <a:ext cx="13716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1.2 Redigir e priorizar stories · todas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2139696" y="2057400"/>
            <a:ext cx="1481328" cy="411480"/>
          </a:xfrm>
          <a:prstGeom prst="roundRect">
            <a:avLst>
              <a:gd name="adj" fmla="val 11111"/>
            </a:avLst>
          </a:prstGeom>
          <a:solidFill>
            <a:srgbClr val="E4F1ED"/>
          </a:solidFill>
          <a:ln w="12700">
            <a:solidFill>
              <a:srgbClr val="B7DCD2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2139696" y="2130552"/>
            <a:ext cx="1481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Dados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139696" y="2606040"/>
            <a:ext cx="1481328" cy="548640"/>
          </a:xfrm>
          <a:prstGeom prst="roundRect">
            <a:avLst>
              <a:gd name="adj" fmla="val 8333"/>
            </a:avLst>
          </a:prstGeom>
          <a:solidFill>
            <a:srgbClr val="F4F7FA"/>
          </a:solidFill>
          <a:ln w="12700">
            <a:solidFill>
              <a:srgbClr val="D9E0E8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2194560" y="2633472"/>
            <a:ext cx="13716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2.1 Avaliar a base do Bacen · US10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2139696" y="3227832"/>
            <a:ext cx="1481328" cy="548640"/>
          </a:xfrm>
          <a:prstGeom prst="roundRect">
            <a:avLst>
              <a:gd name="adj" fmla="val 8333"/>
            </a:avLst>
          </a:prstGeom>
          <a:solidFill>
            <a:srgbClr val="F4F7FA"/>
          </a:solidFill>
          <a:ln w="12700">
            <a:solidFill>
              <a:srgbClr val="D9E0E8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2194560" y="3255264"/>
            <a:ext cx="13716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2.2 Avaliar a série da ANP · US11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3730752" y="2057400"/>
            <a:ext cx="1481328" cy="411480"/>
          </a:xfrm>
          <a:prstGeom prst="roundRect">
            <a:avLst>
              <a:gd name="adj" fmla="val 11111"/>
            </a:avLst>
          </a:prstGeom>
          <a:solidFill>
            <a:srgbClr val="E4F1ED"/>
          </a:solidFill>
          <a:ln w="12700">
            <a:solidFill>
              <a:srgbClr val="B7DCD2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3730752" y="2130552"/>
            <a:ext cx="1481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Preparação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730752" y="2606040"/>
            <a:ext cx="1481328" cy="548640"/>
          </a:xfrm>
          <a:prstGeom prst="roundRect">
            <a:avLst>
              <a:gd name="adj" fmla="val 8333"/>
            </a:avLst>
          </a:prstGeom>
          <a:solidFill>
            <a:srgbClr val="F4F7FA"/>
          </a:solidFill>
          <a:ln w="12700">
            <a:solidFill>
              <a:srgbClr val="D9E0E8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3785616" y="2633472"/>
            <a:ext cx="13716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3.1 Ingestão com DataSource · US10, US11</a:t>
            </a:r>
            <a:endParaRPr lang="en-US" sz="850" dirty="0"/>
          </a:p>
        </p:txBody>
      </p:sp>
      <p:sp>
        <p:nvSpPr>
          <p:cNvPr id="24" name="Shape 22"/>
          <p:cNvSpPr/>
          <p:nvPr/>
        </p:nvSpPr>
        <p:spPr>
          <a:xfrm>
            <a:off x="3730752" y="3227832"/>
            <a:ext cx="1481328" cy="548640"/>
          </a:xfrm>
          <a:prstGeom prst="roundRect">
            <a:avLst>
              <a:gd name="adj" fmla="val 8333"/>
            </a:avLst>
          </a:prstGeom>
          <a:solidFill>
            <a:srgbClr val="F4F7FA"/>
          </a:solidFill>
          <a:ln w="12700">
            <a:solidFill>
              <a:srgbClr val="D9E0E8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3785616" y="3255264"/>
            <a:ext cx="13716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3.2 Escada de coordenadas · US10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730752" y="3849624"/>
            <a:ext cx="1481328" cy="548640"/>
          </a:xfrm>
          <a:prstGeom prst="roundRect">
            <a:avLst>
              <a:gd name="adj" fmla="val 8333"/>
            </a:avLst>
          </a:prstGeom>
          <a:solidFill>
            <a:srgbClr val="F4F7FA"/>
          </a:solidFill>
          <a:ln w="12700">
            <a:solidFill>
              <a:srgbClr val="D9E0E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3785616" y="3877056"/>
            <a:ext cx="13716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3.3 Validar desvio de 30 km · US10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730752" y="4471416"/>
            <a:ext cx="1481328" cy="548640"/>
          </a:xfrm>
          <a:prstGeom prst="roundRect">
            <a:avLst>
              <a:gd name="adj" fmla="val 8333"/>
            </a:avLst>
          </a:prstGeom>
          <a:solidFill>
            <a:srgbClr val="F4F7FA"/>
          </a:solidFill>
          <a:ln w="12700">
            <a:solidFill>
              <a:srgbClr val="D9E0E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3785616" y="4498848"/>
            <a:ext cx="13716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3.4 Atributos sem vazamento · US11</a:t>
            </a:r>
            <a:endParaRPr lang="en-US" sz="850" dirty="0"/>
          </a:p>
        </p:txBody>
      </p:sp>
      <p:sp>
        <p:nvSpPr>
          <p:cNvPr id="30" name="Shape 28"/>
          <p:cNvSpPr/>
          <p:nvPr/>
        </p:nvSpPr>
        <p:spPr>
          <a:xfrm>
            <a:off x="5321808" y="2057400"/>
            <a:ext cx="1481328" cy="411480"/>
          </a:xfrm>
          <a:prstGeom prst="roundRect">
            <a:avLst>
              <a:gd name="adj" fmla="val 11111"/>
            </a:avLst>
          </a:prstGeom>
          <a:solidFill>
            <a:srgbClr val="E4F1ED"/>
          </a:solidFill>
          <a:ln w="12700">
            <a:solidFill>
              <a:srgbClr val="B7DCD2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5321808" y="2130552"/>
            <a:ext cx="1481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Modelagem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5321808" y="2606040"/>
            <a:ext cx="1481328" cy="548640"/>
          </a:xfrm>
          <a:prstGeom prst="roundRect">
            <a:avLst>
              <a:gd name="adj" fmla="val 8333"/>
            </a:avLst>
          </a:prstGeom>
          <a:solidFill>
            <a:srgbClr val="F4F7FA"/>
          </a:solidFill>
          <a:ln w="12700">
            <a:solidFill>
              <a:srgbClr val="D9E0E8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5376672" y="2633472"/>
            <a:ext cx="13716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4.1 K-means das regionais · US01</a:t>
            </a:r>
            <a:endParaRPr lang="en-US" sz="850" dirty="0"/>
          </a:p>
        </p:txBody>
      </p:sp>
      <p:sp>
        <p:nvSpPr>
          <p:cNvPr id="34" name="Shape 32"/>
          <p:cNvSpPr/>
          <p:nvPr/>
        </p:nvSpPr>
        <p:spPr>
          <a:xfrm>
            <a:off x="5321808" y="3227832"/>
            <a:ext cx="1481328" cy="548640"/>
          </a:xfrm>
          <a:prstGeom prst="roundRect">
            <a:avLst>
              <a:gd name="adj" fmla="val 8333"/>
            </a:avLst>
          </a:prstGeom>
          <a:solidFill>
            <a:srgbClr val="F4F7FA"/>
          </a:solidFill>
          <a:ln w="12700">
            <a:solidFill>
              <a:srgbClr val="D9E0E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5376672" y="3255264"/>
            <a:ext cx="13716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4.2 Modelos de preço · US11</a:t>
            </a:r>
            <a:endParaRPr lang="en-US" sz="850" dirty="0"/>
          </a:p>
        </p:txBody>
      </p:sp>
      <p:sp>
        <p:nvSpPr>
          <p:cNvPr id="36" name="Shape 34"/>
          <p:cNvSpPr/>
          <p:nvPr/>
        </p:nvSpPr>
        <p:spPr>
          <a:xfrm>
            <a:off x="5321808" y="3849624"/>
            <a:ext cx="1481328" cy="548640"/>
          </a:xfrm>
          <a:prstGeom prst="roundRect">
            <a:avLst>
              <a:gd name="adj" fmla="val 8333"/>
            </a:avLst>
          </a:prstGeom>
          <a:solidFill>
            <a:srgbClr val="F4F7FA"/>
          </a:solidFill>
          <a:ln w="12700">
            <a:solidFill>
              <a:srgbClr val="D9E0E8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5376672" y="3877056"/>
            <a:ext cx="13716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4.3 Modais por trecho · US03, US05</a:t>
            </a:r>
            <a:endParaRPr lang="en-US" sz="850" dirty="0"/>
          </a:p>
        </p:txBody>
      </p:sp>
      <p:sp>
        <p:nvSpPr>
          <p:cNvPr id="38" name="Shape 36"/>
          <p:cNvSpPr/>
          <p:nvPr/>
        </p:nvSpPr>
        <p:spPr>
          <a:xfrm>
            <a:off x="5321808" y="4471416"/>
            <a:ext cx="1481328" cy="548640"/>
          </a:xfrm>
          <a:prstGeom prst="roundRect">
            <a:avLst>
              <a:gd name="adj" fmla="val 8333"/>
            </a:avLst>
          </a:prstGeom>
          <a:solidFill>
            <a:srgbClr val="F4F7FA"/>
          </a:solidFill>
          <a:ln w="12700">
            <a:solidFill>
              <a:srgbClr val="D9E0E8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5376672" y="4498848"/>
            <a:ext cx="13716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4.4 Sequência provisória · US04</a:t>
            </a:r>
            <a:endParaRPr lang="en-US" sz="850" dirty="0"/>
          </a:p>
        </p:txBody>
      </p:sp>
      <p:sp>
        <p:nvSpPr>
          <p:cNvPr id="40" name="Shape 38"/>
          <p:cNvSpPr/>
          <p:nvPr/>
        </p:nvSpPr>
        <p:spPr>
          <a:xfrm>
            <a:off x="5321808" y="5093208"/>
            <a:ext cx="1481328" cy="548640"/>
          </a:xfrm>
          <a:prstGeom prst="roundRect">
            <a:avLst>
              <a:gd name="adj" fmla="val 8333"/>
            </a:avLst>
          </a:prstGeom>
          <a:solidFill>
            <a:srgbClr val="F4F7FA"/>
          </a:solidFill>
          <a:ln w="12700">
            <a:solidFill>
              <a:srgbClr val="D9E0E8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5376672" y="5120640"/>
            <a:ext cx="13716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4.5 Sequência otimizada · US12</a:t>
            </a:r>
            <a:endParaRPr lang="en-US" sz="850" dirty="0"/>
          </a:p>
        </p:txBody>
      </p:sp>
      <p:sp>
        <p:nvSpPr>
          <p:cNvPr id="42" name="Shape 40"/>
          <p:cNvSpPr/>
          <p:nvPr/>
        </p:nvSpPr>
        <p:spPr>
          <a:xfrm>
            <a:off x="6912864" y="2057400"/>
            <a:ext cx="1481328" cy="411480"/>
          </a:xfrm>
          <a:prstGeom prst="roundRect">
            <a:avLst>
              <a:gd name="adj" fmla="val 11111"/>
            </a:avLst>
          </a:prstGeom>
          <a:solidFill>
            <a:srgbClr val="E4F1ED"/>
          </a:solidFill>
          <a:ln w="12700">
            <a:solidFill>
              <a:srgbClr val="B7DCD2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6912864" y="2130552"/>
            <a:ext cx="1481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Avaliação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6912864" y="2606040"/>
            <a:ext cx="1481328" cy="548640"/>
          </a:xfrm>
          <a:prstGeom prst="roundRect">
            <a:avLst>
              <a:gd name="adj" fmla="val 8333"/>
            </a:avLst>
          </a:prstGeom>
          <a:solidFill>
            <a:srgbClr val="F4F7FA"/>
          </a:solidFill>
          <a:ln w="12700">
            <a:solidFill>
              <a:srgbClr val="D9E0E8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6967728" y="2633472"/>
            <a:ext cx="13716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5.1 Modelo contra baseline · US11</a:t>
            </a:r>
            <a:endParaRPr lang="en-US" sz="850" dirty="0"/>
          </a:p>
        </p:txBody>
      </p:sp>
      <p:sp>
        <p:nvSpPr>
          <p:cNvPr id="46" name="Shape 44"/>
          <p:cNvSpPr/>
          <p:nvPr/>
        </p:nvSpPr>
        <p:spPr>
          <a:xfrm>
            <a:off x="6912864" y="3227832"/>
            <a:ext cx="1481328" cy="548640"/>
          </a:xfrm>
          <a:prstGeom prst="roundRect">
            <a:avLst>
              <a:gd name="adj" fmla="val 8333"/>
            </a:avLst>
          </a:prstGeom>
          <a:solidFill>
            <a:srgbClr val="F4F7FA"/>
          </a:solidFill>
          <a:ln w="12700">
            <a:solidFill>
              <a:srgbClr val="D9E0E8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6967728" y="3255264"/>
            <a:ext cx="13716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5.2 Cenário de referência · US08</a:t>
            </a:r>
            <a:endParaRPr lang="en-US" sz="850" dirty="0"/>
          </a:p>
        </p:txBody>
      </p:sp>
      <p:sp>
        <p:nvSpPr>
          <p:cNvPr id="48" name="Shape 46"/>
          <p:cNvSpPr/>
          <p:nvPr/>
        </p:nvSpPr>
        <p:spPr>
          <a:xfrm>
            <a:off x="6912864" y="3849624"/>
            <a:ext cx="1481328" cy="548640"/>
          </a:xfrm>
          <a:prstGeom prst="roundRect">
            <a:avLst>
              <a:gd name="adj" fmla="val 8333"/>
            </a:avLst>
          </a:prstGeom>
          <a:solidFill>
            <a:srgbClr val="F4F7FA"/>
          </a:solidFill>
          <a:ln w="12700">
            <a:solidFill>
              <a:srgbClr val="D9E0E8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6967728" y="3877056"/>
            <a:ext cx="13716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5.3 Totais e economia · US07</a:t>
            </a:r>
            <a:endParaRPr lang="en-US" sz="850" dirty="0"/>
          </a:p>
        </p:txBody>
      </p:sp>
      <p:sp>
        <p:nvSpPr>
          <p:cNvPr id="50" name="Shape 48"/>
          <p:cNvSpPr/>
          <p:nvPr/>
        </p:nvSpPr>
        <p:spPr>
          <a:xfrm>
            <a:off x="8503920" y="2057400"/>
            <a:ext cx="1481328" cy="411480"/>
          </a:xfrm>
          <a:prstGeom prst="roundRect">
            <a:avLst>
              <a:gd name="adj" fmla="val 11111"/>
            </a:avLst>
          </a:prstGeom>
          <a:solidFill>
            <a:srgbClr val="E4F1ED"/>
          </a:solidFill>
          <a:ln w="12700">
            <a:solidFill>
              <a:srgbClr val="B7DCD2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8503920" y="2130552"/>
            <a:ext cx="1481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Entrega</a:t>
            </a:r>
            <a:endParaRPr lang="en-US" sz="1100" dirty="0"/>
          </a:p>
        </p:txBody>
      </p:sp>
      <p:sp>
        <p:nvSpPr>
          <p:cNvPr id="52" name="Shape 50"/>
          <p:cNvSpPr/>
          <p:nvPr/>
        </p:nvSpPr>
        <p:spPr>
          <a:xfrm>
            <a:off x="8503920" y="2606040"/>
            <a:ext cx="1481328" cy="548640"/>
          </a:xfrm>
          <a:prstGeom prst="roundRect">
            <a:avLst>
              <a:gd name="adj" fmla="val 8333"/>
            </a:avLst>
          </a:prstGeom>
          <a:solidFill>
            <a:srgbClr val="F4F7FA"/>
          </a:solidFill>
          <a:ln w="12700">
            <a:solidFill>
              <a:srgbClr val="D9E0E8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8558784" y="2633472"/>
            <a:ext cx="13716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6.1 Seleção e restrições · US01, US02</a:t>
            </a:r>
            <a:endParaRPr lang="en-US" sz="850" dirty="0"/>
          </a:p>
        </p:txBody>
      </p:sp>
      <p:sp>
        <p:nvSpPr>
          <p:cNvPr id="54" name="Shape 52"/>
          <p:cNvSpPr/>
          <p:nvPr/>
        </p:nvSpPr>
        <p:spPr>
          <a:xfrm>
            <a:off x="8503920" y="3227832"/>
            <a:ext cx="1481328" cy="548640"/>
          </a:xfrm>
          <a:prstGeom prst="roundRect">
            <a:avLst>
              <a:gd name="adj" fmla="val 8333"/>
            </a:avLst>
          </a:prstGeom>
          <a:solidFill>
            <a:srgbClr val="F4F7FA"/>
          </a:solidFill>
          <a:ln w="12700">
            <a:solidFill>
              <a:srgbClr val="D9E0E8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8558784" y="3255264"/>
            <a:ext cx="13716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6.2 Objetivo com prévia · US03</a:t>
            </a:r>
            <a:endParaRPr lang="en-US" sz="850" dirty="0"/>
          </a:p>
        </p:txBody>
      </p:sp>
      <p:sp>
        <p:nvSpPr>
          <p:cNvPr id="56" name="Shape 54"/>
          <p:cNvSpPr/>
          <p:nvPr/>
        </p:nvSpPr>
        <p:spPr>
          <a:xfrm>
            <a:off x="8503920" y="3849624"/>
            <a:ext cx="1481328" cy="548640"/>
          </a:xfrm>
          <a:prstGeom prst="roundRect">
            <a:avLst>
              <a:gd name="adj" fmla="val 8333"/>
            </a:avLst>
          </a:prstGeom>
          <a:solidFill>
            <a:srgbClr val="F4F7FA"/>
          </a:solidFill>
          <a:ln w="12700">
            <a:solidFill>
              <a:srgbClr val="D9E0E8"/>
            </a:solidFill>
            <a:prstDash val="solid"/>
          </a:ln>
        </p:spPr>
      </p:sp>
      <p:sp>
        <p:nvSpPr>
          <p:cNvPr id="57" name="Text 55"/>
          <p:cNvSpPr txBox="1"/>
          <p:nvPr/>
        </p:nvSpPr>
        <p:spPr>
          <a:xfrm>
            <a:off x="8558784" y="3877056"/>
            <a:ext cx="13716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6.3 Resultado e mapa · US05, US06</a:t>
            </a:r>
            <a:endParaRPr lang="en-US" sz="850" dirty="0"/>
          </a:p>
        </p:txBody>
      </p:sp>
      <p:sp>
        <p:nvSpPr>
          <p:cNvPr id="58" name="Shape 56"/>
          <p:cNvSpPr/>
          <p:nvPr/>
        </p:nvSpPr>
        <p:spPr>
          <a:xfrm>
            <a:off x="8503920" y="4471416"/>
            <a:ext cx="1481328" cy="548640"/>
          </a:xfrm>
          <a:prstGeom prst="roundRect">
            <a:avLst>
              <a:gd name="adj" fmla="val 8333"/>
            </a:avLst>
          </a:prstGeom>
          <a:solidFill>
            <a:srgbClr val="F4F7FA"/>
          </a:solidFill>
          <a:ln w="12700">
            <a:solidFill>
              <a:srgbClr val="D9E0E8"/>
            </a:solidFill>
            <a:prstDash val="solid"/>
          </a:ln>
        </p:spPr>
      </p:sp>
      <p:sp>
        <p:nvSpPr>
          <p:cNvPr id="59" name="Text 57"/>
          <p:cNvSpPr txBox="1"/>
          <p:nvPr/>
        </p:nvSpPr>
        <p:spPr>
          <a:xfrm>
            <a:off x="8558784" y="4498848"/>
            <a:ext cx="13716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6.4 Salvar e exportar · US09</a:t>
            </a:r>
            <a:endParaRPr lang="en-US" sz="850" dirty="0"/>
          </a:p>
        </p:txBody>
      </p:sp>
      <p:sp>
        <p:nvSpPr>
          <p:cNvPr id="60" name="Shape 58"/>
          <p:cNvSpPr/>
          <p:nvPr/>
        </p:nvSpPr>
        <p:spPr>
          <a:xfrm>
            <a:off x="8503920" y="5093208"/>
            <a:ext cx="1481328" cy="548640"/>
          </a:xfrm>
          <a:prstGeom prst="roundRect">
            <a:avLst>
              <a:gd name="adj" fmla="val 8333"/>
            </a:avLst>
          </a:prstGeom>
          <a:solidFill>
            <a:srgbClr val="F4F7FA"/>
          </a:solidFill>
          <a:ln w="12700">
            <a:solidFill>
              <a:srgbClr val="D9E0E8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8558784" y="5120640"/>
            <a:ext cx="13716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6.5 Painel · US13 · 6.6 Preços · US14</a:t>
            </a:r>
            <a:endParaRPr lang="en-US" sz="850" dirty="0"/>
          </a:p>
        </p:txBody>
      </p:sp>
      <p:sp>
        <p:nvSpPr>
          <p:cNvPr id="62" name="Shape 60"/>
          <p:cNvSpPr/>
          <p:nvPr/>
        </p:nvSpPr>
        <p:spPr>
          <a:xfrm>
            <a:off x="10094976" y="2057400"/>
            <a:ext cx="1481328" cy="411480"/>
          </a:xfrm>
          <a:prstGeom prst="roundRect">
            <a:avLst>
              <a:gd name="adj" fmla="val 11111"/>
            </a:avLst>
          </a:prstGeom>
          <a:solidFill>
            <a:srgbClr val="E4F1ED"/>
          </a:solidFill>
          <a:ln w="12700">
            <a:solidFill>
              <a:srgbClr val="B7DCD2"/>
            </a:solidFill>
            <a:prstDash val="solid"/>
          </a:ln>
        </p:spPr>
      </p:sp>
      <p:sp>
        <p:nvSpPr>
          <p:cNvPr id="63" name="Text 61"/>
          <p:cNvSpPr txBox="1"/>
          <p:nvPr/>
        </p:nvSpPr>
        <p:spPr>
          <a:xfrm>
            <a:off x="10094976" y="2130552"/>
            <a:ext cx="1481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 Gestão</a:t>
            </a:r>
            <a:endParaRPr lang="en-US" sz="1100" dirty="0"/>
          </a:p>
        </p:txBody>
      </p:sp>
      <p:sp>
        <p:nvSpPr>
          <p:cNvPr id="64" name="Shape 62"/>
          <p:cNvSpPr/>
          <p:nvPr/>
        </p:nvSpPr>
        <p:spPr>
          <a:xfrm>
            <a:off x="10094976" y="2606040"/>
            <a:ext cx="1481328" cy="548640"/>
          </a:xfrm>
          <a:prstGeom prst="roundRect">
            <a:avLst>
              <a:gd name="adj" fmla="val 8333"/>
            </a:avLst>
          </a:prstGeom>
          <a:solidFill>
            <a:srgbClr val="F4F7FA"/>
          </a:solidFill>
          <a:ln w="12700">
            <a:solidFill>
              <a:srgbClr val="D9E0E8"/>
            </a:solidFill>
            <a:prstDash val="solid"/>
          </a:ln>
        </p:spPr>
      </p:sp>
      <p:sp>
        <p:nvSpPr>
          <p:cNvPr id="65" name="Text 63"/>
          <p:cNvSpPr txBox="1"/>
          <p:nvPr/>
        </p:nvSpPr>
        <p:spPr>
          <a:xfrm>
            <a:off x="10149840" y="2633472"/>
            <a:ext cx="13716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7.1 Planning Poker · todas</a:t>
            </a:r>
            <a:endParaRPr lang="en-US" sz="850" dirty="0"/>
          </a:p>
        </p:txBody>
      </p:sp>
      <p:sp>
        <p:nvSpPr>
          <p:cNvPr id="66" name="Shape 64"/>
          <p:cNvSpPr/>
          <p:nvPr/>
        </p:nvSpPr>
        <p:spPr>
          <a:xfrm>
            <a:off x="10094976" y="3227832"/>
            <a:ext cx="1481328" cy="548640"/>
          </a:xfrm>
          <a:prstGeom prst="roundRect">
            <a:avLst>
              <a:gd name="adj" fmla="val 8333"/>
            </a:avLst>
          </a:prstGeom>
          <a:solidFill>
            <a:srgbClr val="F4F7FA"/>
          </a:solidFill>
          <a:ln w="12700">
            <a:solidFill>
              <a:srgbClr val="D9E0E8"/>
            </a:solidFill>
            <a:prstDash val="solid"/>
          </a:ln>
        </p:spPr>
      </p:sp>
      <p:sp>
        <p:nvSpPr>
          <p:cNvPr id="67" name="Text 65"/>
          <p:cNvSpPr txBox="1"/>
          <p:nvPr/>
        </p:nvSpPr>
        <p:spPr>
          <a:xfrm>
            <a:off x="10149840" y="3255264"/>
            <a:ext cx="13716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7.2 Revisar o PR · US10, US11</a:t>
            </a:r>
            <a:endParaRPr lang="en-US" sz="850" dirty="0"/>
          </a:p>
        </p:txBody>
      </p:sp>
      <p:sp>
        <p:nvSpPr>
          <p:cNvPr id="68" name="Shape 66"/>
          <p:cNvSpPr/>
          <p:nvPr/>
        </p:nvSpPr>
        <p:spPr>
          <a:xfrm>
            <a:off x="10094976" y="3849624"/>
            <a:ext cx="1481328" cy="548640"/>
          </a:xfrm>
          <a:prstGeom prst="roundRect">
            <a:avLst>
              <a:gd name="adj" fmla="val 8333"/>
            </a:avLst>
          </a:prstGeom>
          <a:solidFill>
            <a:srgbClr val="F4F7FA"/>
          </a:solidFill>
          <a:ln w="12700">
            <a:solidFill>
              <a:srgbClr val="D9E0E8"/>
            </a:solidFill>
            <a:prstDash val="solid"/>
          </a:ln>
        </p:spPr>
      </p:sp>
      <p:sp>
        <p:nvSpPr>
          <p:cNvPr id="69" name="Text 67"/>
          <p:cNvSpPr txBox="1"/>
          <p:nvPr/>
        </p:nvSpPr>
        <p:spPr>
          <a:xfrm>
            <a:off x="10149840" y="3877056"/>
            <a:ext cx="13716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7.3 Revisar riscos · transversal</a:t>
            </a:r>
            <a:endParaRPr lang="en-US" sz="850" dirty="0"/>
          </a:p>
        </p:txBody>
      </p:sp>
      <p:sp>
        <p:nvSpPr>
          <p:cNvPr id="70" name="Shape 68"/>
          <p:cNvSpPr/>
          <p:nvPr/>
        </p:nvSpPr>
        <p:spPr>
          <a:xfrm>
            <a:off x="548640" y="5852160"/>
            <a:ext cx="11064240" cy="566928"/>
          </a:xfrm>
          <a:prstGeom prst="roundRect">
            <a:avLst>
              <a:gd name="adj" fmla="val 8065"/>
            </a:avLst>
          </a:prstGeom>
          <a:solidFill>
            <a:srgbClr val="12263A"/>
          </a:solidFill>
          <a:ln w="12700">
            <a:solidFill>
              <a:srgbClr val="12263A"/>
            </a:solidFill>
            <a:prstDash val="solid"/>
          </a:ln>
        </p:spPr>
      </p:sp>
      <p:sp>
        <p:nvSpPr>
          <p:cNvPr id="71" name="Text 69"/>
          <p:cNvSpPr txBox="1"/>
          <p:nvPr/>
        </p:nvSpPr>
        <p:spPr>
          <a:xfrm>
            <a:off x="822960" y="6007608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F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Regra dos 100%: as 14 stories aparecem em algum pacote, e nenhum pacote existe sem story (exceto 7.3, transversal).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PARTE 3 · PLANEJAMENTO E RISCOS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12064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1226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Estimativas e capacidade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060704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A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Planning Poker em Fibonacci, com a US01 valendo 3 pontos como referência</a:t>
            </a:r>
            <a:endParaRPr lang="en-US" sz="1350" dirty="0"/>
          </a:p>
        </p:txBody>
      </p:sp>
      <p:sp>
        <p:nvSpPr>
          <p:cNvPr id="5" name="Text 3"/>
          <p:cNvSpPr txBox="1"/>
          <p:nvPr/>
        </p:nvSpPr>
        <p:spPr>
          <a:xfrm>
            <a:off x="11155680" y="647395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dirty="0">
                <a:solidFill>
                  <a:srgbClr val="9AAA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548640" y="1554480"/>
          <a:ext cx="6949440" cy="38404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Shape 4"/>
          <p:cNvSpPr/>
          <p:nvPr/>
        </p:nvSpPr>
        <p:spPr>
          <a:xfrm>
            <a:off x="7818120" y="1600200"/>
            <a:ext cx="3794760" cy="822960"/>
          </a:xfrm>
          <a:prstGeom prst="roundRect">
            <a:avLst>
              <a:gd name="adj" fmla="val 5556"/>
            </a:avLst>
          </a:prstGeom>
          <a:solidFill>
            <a:srgbClr val="F4F7FA"/>
          </a:solidFill>
          <a:ln w="12700">
            <a:solidFill>
              <a:srgbClr val="D9E0E8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8046720" y="1719072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226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200" dirty="0"/>
          </a:p>
        </p:txBody>
      </p:sp>
      <p:sp>
        <p:nvSpPr>
          <p:cNvPr id="9" name="Text 6"/>
          <p:cNvSpPr txBox="1"/>
          <p:nvPr/>
        </p:nvSpPr>
        <p:spPr>
          <a:xfrm>
            <a:off x="10058400" y="1719072"/>
            <a:ext cx="1463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pessoas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7818120" y="2560320"/>
            <a:ext cx="3794760" cy="822960"/>
          </a:xfrm>
          <a:prstGeom prst="roundRect">
            <a:avLst>
              <a:gd name="adj" fmla="val 5556"/>
            </a:avLst>
          </a:prstGeom>
          <a:solidFill>
            <a:srgbClr val="F4F7FA"/>
          </a:solidFill>
          <a:ln w="12700">
            <a:solidFill>
              <a:srgbClr val="D9E0E8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8046720" y="2679192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226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 semanas</a:t>
            </a:r>
            <a:endParaRPr lang="en-US" sz="2200" dirty="0"/>
          </a:p>
        </p:txBody>
      </p:sp>
      <p:sp>
        <p:nvSpPr>
          <p:cNvPr id="12" name="Text 9"/>
          <p:cNvSpPr txBox="1"/>
          <p:nvPr/>
        </p:nvSpPr>
        <p:spPr>
          <a:xfrm>
            <a:off x="10058400" y="2679192"/>
            <a:ext cx="1463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sprint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7818120" y="3520440"/>
            <a:ext cx="3794760" cy="822960"/>
          </a:xfrm>
          <a:prstGeom prst="roundRect">
            <a:avLst>
              <a:gd name="adj" fmla="val 5556"/>
            </a:avLst>
          </a:prstGeom>
          <a:solidFill>
            <a:srgbClr val="E4F1ED"/>
          </a:solidFill>
          <a:ln w="12700">
            <a:solidFill>
              <a:srgbClr val="B7DCD2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8046720" y="3639312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E7C6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 pontos</a:t>
            </a:r>
            <a:endParaRPr lang="en-US" sz="2200" dirty="0"/>
          </a:p>
        </p:txBody>
      </p:sp>
      <p:sp>
        <p:nvSpPr>
          <p:cNvPr id="15" name="Text 12"/>
          <p:cNvSpPr txBox="1"/>
          <p:nvPr/>
        </p:nvSpPr>
        <p:spPr>
          <a:xfrm>
            <a:off x="10058400" y="3639312"/>
            <a:ext cx="1463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velocidade assumida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7818120" y="4480560"/>
            <a:ext cx="3794760" cy="822960"/>
          </a:xfrm>
          <a:prstGeom prst="roundRect">
            <a:avLst>
              <a:gd name="adj" fmla="val 5556"/>
            </a:avLst>
          </a:prstGeom>
          <a:solidFill>
            <a:srgbClr val="F4F7FA"/>
          </a:solidFill>
          <a:ln w="12700">
            <a:solidFill>
              <a:srgbClr val="D9E0E8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8046720" y="4599432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226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58 pontos</a:t>
            </a:r>
            <a:endParaRPr lang="en-US" sz="2200" dirty="0"/>
          </a:p>
        </p:txBody>
      </p:sp>
      <p:sp>
        <p:nvSpPr>
          <p:cNvPr id="18" name="Text 15"/>
          <p:cNvSpPr txBox="1"/>
          <p:nvPr/>
        </p:nvSpPr>
        <p:spPr>
          <a:xfrm>
            <a:off x="10058400" y="4599432"/>
            <a:ext cx="1463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· 4 sprints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548640" y="5623560"/>
            <a:ext cx="11064240" cy="566928"/>
          </a:xfrm>
          <a:prstGeom prst="roundRect">
            <a:avLst>
              <a:gd name="adj" fmla="val 8065"/>
            </a:avLst>
          </a:prstGeom>
          <a:solidFill>
            <a:srgbClr val="12263A"/>
          </a:solidFill>
          <a:ln w="12700">
            <a:solidFill>
              <a:srgbClr val="12263A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822960" y="5779008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F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Divergências revotadas: US04 (3 a 8) · US09 (3 a 8, subiu para 5) · US11 (5 a 13) · US12 (8 e 13, escopo reduzido). Velocidade recalibrada ao fim da sprint.</a:t>
            </a:r>
            <a:endParaRPr lang="en-US" sz="1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PARTE 3 · PLANEJAMENTO E RISCOS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12064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1226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Matriz de riscos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060704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A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Exposição = probabilidade × impacto, de 1 a 3 cada · três riscos de dados e dois de modelo</a:t>
            </a:r>
            <a:endParaRPr lang="en-US" sz="1350" dirty="0"/>
          </a:p>
        </p:txBody>
      </p:sp>
      <p:sp>
        <p:nvSpPr>
          <p:cNvPr id="5" name="Text 3"/>
          <p:cNvSpPr txBox="1"/>
          <p:nvPr/>
        </p:nvSpPr>
        <p:spPr>
          <a:xfrm>
            <a:off x="11155680" y="647395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dirty="0">
                <a:solidFill>
                  <a:srgbClr val="9AAA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95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7772400" cy="914400"/>
        </p:xfrm>
        <a:graphic>
          <a:graphicData uri="http://schemas.openxmlformats.org/drawingml/2006/table">
            <a:tbl>
              <a:tblPr/>
              <a:tblGrid>
                <a:gridCol w="476834"/>
                <a:gridCol w="3147107"/>
                <a:gridCol w="810618"/>
                <a:gridCol w="762935"/>
                <a:gridCol w="810618"/>
                <a:gridCol w="905985"/>
                <a:gridCol w="858302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6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Risco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6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Tipo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6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Prob.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6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Impacto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6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Resposta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6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Dono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63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Coordenada errada por colisão de nomes de bairro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Dados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Média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A327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Alto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Mitigar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Gabriel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Série da ANP termina em 2021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Dados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A327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Alta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Médio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Mitigar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Luca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Prioridade e periodicidade não existem em base pública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Dados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A327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Alta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A327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Alto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Transferir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Victor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Modelo de preço perde precisão num choque (drift)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Média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Médio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Mitigar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Luca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R5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Varredura gera rotas com ida e volta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A327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Alta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Médio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Aceitar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Victor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Sprint 1 cheia para quem concilia provas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Prazo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Média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Médio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Mitigar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Davi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R7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Agenda do gerente seria dado pessoal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LGPD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Baixa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A327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Alto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Evitar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Gabriel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9144000" y="1965960"/>
            <a:ext cx="822960" cy="822960"/>
          </a:xfrm>
          <a:prstGeom prst="rect">
            <a:avLst/>
          </a:prstGeom>
          <a:solidFill>
            <a:srgbClr val="F6E3B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10012680" y="1965960"/>
            <a:ext cx="822960" cy="822960"/>
          </a:xfrm>
          <a:prstGeom prst="rect">
            <a:avLst/>
          </a:prstGeom>
          <a:solidFill>
            <a:srgbClr val="F3C7C2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10012680" y="224028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R2 R5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10881360" y="1965960"/>
            <a:ext cx="822960" cy="822960"/>
          </a:xfrm>
          <a:prstGeom prst="rect">
            <a:avLst/>
          </a:prstGeom>
          <a:solidFill>
            <a:srgbClr val="F3C7C2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10881360" y="224028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R3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9144000" y="2834640"/>
            <a:ext cx="822960" cy="822960"/>
          </a:xfrm>
          <a:prstGeom prst="rect">
            <a:avLst/>
          </a:prstGeom>
          <a:solidFill>
            <a:srgbClr val="D7EDE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10012680" y="2834640"/>
            <a:ext cx="822960" cy="822960"/>
          </a:xfrm>
          <a:prstGeom prst="rect">
            <a:avLst/>
          </a:prstGeom>
          <a:solidFill>
            <a:srgbClr val="F6E3B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10012680" y="310896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R4 R6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10881360" y="2834640"/>
            <a:ext cx="822960" cy="822960"/>
          </a:xfrm>
          <a:prstGeom prst="rect">
            <a:avLst/>
          </a:prstGeom>
          <a:solidFill>
            <a:srgbClr val="F3C7C2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10881360" y="310896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R1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9144000" y="3703320"/>
            <a:ext cx="822960" cy="822960"/>
          </a:xfrm>
          <a:prstGeom prst="rect">
            <a:avLst/>
          </a:prstGeom>
          <a:solidFill>
            <a:srgbClr val="D7EDE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10012680" y="3703320"/>
            <a:ext cx="822960" cy="822960"/>
          </a:xfrm>
          <a:prstGeom prst="rect">
            <a:avLst/>
          </a:prstGeom>
          <a:solidFill>
            <a:srgbClr val="D7EDE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10881360" y="3703320"/>
            <a:ext cx="822960" cy="822960"/>
          </a:xfrm>
          <a:prstGeom prst="rect">
            <a:avLst/>
          </a:prstGeom>
          <a:solidFill>
            <a:srgbClr val="F6E3B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10881360" y="397764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R7</a:t>
            </a:r>
            <a:endParaRPr lang="en-US" sz="1100" dirty="0"/>
          </a:p>
        </p:txBody>
      </p:sp>
      <p:sp>
        <p:nvSpPr>
          <p:cNvPr id="21" name="Text 18"/>
          <p:cNvSpPr txBox="1"/>
          <p:nvPr/>
        </p:nvSpPr>
        <p:spPr>
          <a:xfrm>
            <a:off x="8458200" y="2267712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dirty="0">
                <a:solidFill>
                  <a:srgbClr val="5A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Alta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8458200" y="3136392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dirty="0">
                <a:solidFill>
                  <a:srgbClr val="5A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Média</a:t>
            </a:r>
            <a:endParaRPr lang="en-US" sz="950" dirty="0"/>
          </a:p>
        </p:txBody>
      </p:sp>
      <p:sp>
        <p:nvSpPr>
          <p:cNvPr id="23" name="Text 20"/>
          <p:cNvSpPr txBox="1"/>
          <p:nvPr/>
        </p:nvSpPr>
        <p:spPr>
          <a:xfrm>
            <a:off x="8458200" y="4005072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dirty="0">
                <a:solidFill>
                  <a:srgbClr val="5A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Baixa</a:t>
            </a:r>
            <a:endParaRPr lang="en-US" sz="950" dirty="0"/>
          </a:p>
        </p:txBody>
      </p:sp>
      <p:sp>
        <p:nvSpPr>
          <p:cNvPr id="24" name="Text 21"/>
          <p:cNvSpPr txBox="1"/>
          <p:nvPr/>
        </p:nvSpPr>
        <p:spPr>
          <a:xfrm>
            <a:off x="9144000" y="4599432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5A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Baixo</a:t>
            </a:r>
            <a:endParaRPr lang="en-US" sz="950" dirty="0"/>
          </a:p>
        </p:txBody>
      </p:sp>
      <p:sp>
        <p:nvSpPr>
          <p:cNvPr id="25" name="Text 22"/>
          <p:cNvSpPr txBox="1"/>
          <p:nvPr/>
        </p:nvSpPr>
        <p:spPr>
          <a:xfrm>
            <a:off x="10012680" y="4599432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5A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Médio</a:t>
            </a:r>
            <a:endParaRPr lang="en-US" sz="950" dirty="0"/>
          </a:p>
        </p:txBody>
      </p:sp>
      <p:sp>
        <p:nvSpPr>
          <p:cNvPr id="26" name="Text 23"/>
          <p:cNvSpPr txBox="1"/>
          <p:nvPr/>
        </p:nvSpPr>
        <p:spPr>
          <a:xfrm>
            <a:off x="10881360" y="4599432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5A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Alto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9144000" y="1645920"/>
            <a:ext cx="2651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5A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PROBABILIDADE ↑   IMPACTO →</a:t>
            </a:r>
            <a:endParaRPr lang="en-US" sz="900" dirty="0"/>
          </a:p>
        </p:txBody>
      </p:sp>
      <p:sp>
        <p:nvSpPr>
          <p:cNvPr id="28" name="Shape 25"/>
          <p:cNvSpPr/>
          <p:nvPr/>
        </p:nvSpPr>
        <p:spPr>
          <a:xfrm>
            <a:off x="548640" y="5623560"/>
            <a:ext cx="11064240" cy="566928"/>
          </a:xfrm>
          <a:prstGeom prst="roundRect">
            <a:avLst>
              <a:gd name="adj" fmla="val 8065"/>
            </a:avLst>
          </a:prstGeom>
          <a:solidFill>
            <a:srgbClr val="12263A"/>
          </a:solidFill>
          <a:ln w="12700">
            <a:solidFill>
              <a:srgbClr val="12263A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822960" y="5779008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F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um é dono dos riscos da sua frente: Gabriel (agências), Luca (modelo), Victor (negócio e rota), Davi (prazo). Revisão a cada sprint.</a:t>
            </a:r>
            <a:endParaRPr lang="en-US" sz="1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PARTE 3 · PLANEJAMENTO E RISCOS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12064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1226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Plano da Sprint 1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060704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A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Meta: transformar a base de agências e o custo de deslocamento num pipeline modular e testado, com o preço por estado validado</a:t>
            </a:r>
            <a:endParaRPr lang="en-US" sz="1350" dirty="0"/>
          </a:p>
        </p:txBody>
      </p:sp>
      <p:sp>
        <p:nvSpPr>
          <p:cNvPr id="5" name="Text 3"/>
          <p:cNvSpPr txBox="1"/>
          <p:nvPr/>
        </p:nvSpPr>
        <p:spPr>
          <a:xfrm>
            <a:off x="11155680" y="647395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dirty="0">
                <a:solidFill>
                  <a:srgbClr val="9AAA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95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37360"/>
          <a:ext cx="6949440" cy="914400"/>
        </p:xfrm>
        <a:graphic>
          <a:graphicData uri="http://schemas.openxmlformats.org/drawingml/2006/table">
            <a:tbl>
              <a:tblPr/>
              <a:tblGrid>
                <a:gridCol w="2902931"/>
                <a:gridCol w="791708"/>
                <a:gridCol w="1319514"/>
                <a:gridCol w="879676"/>
                <a:gridCol w="1055611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Item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6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Pontos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6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Pacotes da WBS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6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Dono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6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Situação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63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US10 · Agências no lugar certo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3.1, 3.2, 3.3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Gabriel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E7C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Entregue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US11 · Preço por estado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3.4, 4.2, 5.1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Luca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E7C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Entregue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US05 · Modal por trecho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4.3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Victor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E7C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Entregue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Testes e pull request revisado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7.1, 7.2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Davi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E7C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Entregue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 de 20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7818120" y="1737360"/>
            <a:ext cx="3794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Definição de pronto</a:t>
            </a:r>
            <a:endParaRPr lang="en-US" sz="1350" dirty="0"/>
          </a:p>
        </p:txBody>
      </p:sp>
      <p:sp>
        <p:nvSpPr>
          <p:cNvPr id="8" name="Text 5"/>
          <p:cNvSpPr txBox="1"/>
          <p:nvPr/>
        </p:nvSpPr>
        <p:spPr>
          <a:xfrm>
            <a:off x="7818120" y="2103120"/>
            <a:ext cx="37947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5A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Critério de aceite verificado, de preferência por teste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5A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Código no módulo da sua responsabilidade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5A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 revisado por outro integrante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5A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roda de ponta a ponta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7818120" y="3886200"/>
            <a:ext cx="3794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Riscos monitorados</a:t>
            </a:r>
            <a:endParaRPr lang="en-US" sz="1350" dirty="0"/>
          </a:p>
        </p:txBody>
      </p:sp>
      <p:sp>
        <p:nvSpPr>
          <p:cNvPr id="10" name="Text 7"/>
          <p:cNvSpPr txBox="1"/>
          <p:nvPr/>
        </p:nvSpPr>
        <p:spPr>
          <a:xfrm>
            <a:off x="7818120" y="4206240"/>
            <a:ext cx="3794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A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R1, R2, R4 e R6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548640" y="5257800"/>
            <a:ext cx="11064240" cy="566928"/>
          </a:xfrm>
          <a:prstGeom prst="roundRect">
            <a:avLst>
              <a:gd name="adj" fmla="val 8065"/>
            </a:avLst>
          </a:prstGeom>
          <a:solidFill>
            <a:srgbClr val="12263A"/>
          </a:solidFill>
          <a:ln w="12700">
            <a:solidFill>
              <a:srgbClr val="12263A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822960" y="5413248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F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que estas stories: a interface da Onda 1 já existe no protótipo. A Sprint 1 ataca o que sustenta os números que ele mostra.</a:t>
            </a:r>
            <a:endParaRPr lang="en-US" sz="1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ENCERRAMENTO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12064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1226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Entregáveis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060704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A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Stories de interface da Onda 1: navegáveis no protótipo, mas abertas no quadro até a validação com um gerente na Sprint 2</a:t>
            </a:r>
            <a:endParaRPr lang="en-US" sz="1350" dirty="0"/>
          </a:p>
        </p:txBody>
      </p:sp>
      <p:sp>
        <p:nvSpPr>
          <p:cNvPr id="5" name="Text 3"/>
          <p:cNvSpPr txBox="1"/>
          <p:nvPr/>
        </p:nvSpPr>
        <p:spPr>
          <a:xfrm>
            <a:off x="11155680" y="647395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dirty="0">
                <a:solidFill>
                  <a:srgbClr val="9AAA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548640" y="1600200"/>
            <a:ext cx="6766560" cy="640080"/>
          </a:xfrm>
          <a:prstGeom prst="roundRect">
            <a:avLst>
              <a:gd name="adj" fmla="val 7143"/>
            </a:avLst>
          </a:prstGeom>
          <a:solidFill>
            <a:srgbClr val="F4F7FA"/>
          </a:solidFill>
          <a:ln w="12700">
            <a:solidFill>
              <a:srgbClr val="D9E0E8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49808" y="178308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US01, US02</a:t>
            </a:r>
            <a:endParaRPr lang="en-US" sz="1150" dirty="0"/>
          </a:p>
        </p:txBody>
      </p:sp>
      <p:sp>
        <p:nvSpPr>
          <p:cNvPr id="8" name="Text 6"/>
          <p:cNvSpPr txBox="1"/>
          <p:nvPr/>
        </p:nvSpPr>
        <p:spPr>
          <a:xfrm>
            <a:off x="2514600" y="1691640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Seleção de agências por regional, com origem, período e trava de viabilidade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48640" y="2350008"/>
            <a:ext cx="6766560" cy="640080"/>
          </a:xfrm>
          <a:prstGeom prst="roundRect">
            <a:avLst>
              <a:gd name="adj" fmla="val 7143"/>
            </a:avLst>
          </a:prstGeom>
          <a:solidFill>
            <a:srgbClr val="F4F7FA"/>
          </a:solidFill>
          <a:ln w="12700">
            <a:solidFill>
              <a:srgbClr val="D9E0E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49808" y="2532888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US03</a:t>
            </a:r>
            <a:endParaRPr lang="en-US" sz="1150" dirty="0"/>
          </a:p>
        </p:txBody>
      </p:sp>
      <p:sp>
        <p:nvSpPr>
          <p:cNvPr id="11" name="Text 9"/>
          <p:cNvSpPr txBox="1"/>
          <p:nvPr/>
        </p:nvSpPr>
        <p:spPr>
          <a:xfrm>
            <a:off x="2514600" y="2441448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 de custo, tempo ou equilíbrio, com prévia no trecho mais longo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48640" y="3099816"/>
            <a:ext cx="6766560" cy="640080"/>
          </a:xfrm>
          <a:prstGeom prst="roundRect">
            <a:avLst>
              <a:gd name="adj" fmla="val 7143"/>
            </a:avLst>
          </a:prstGeom>
          <a:solidFill>
            <a:srgbClr val="F4F7FA"/>
          </a:solidFill>
          <a:ln w="12700">
            <a:solidFill>
              <a:srgbClr val="D9E0E8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49808" y="3282696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US04, US05, US06</a:t>
            </a:r>
            <a:endParaRPr lang="en-US" sz="1150" dirty="0"/>
          </a:p>
        </p:txBody>
      </p:sp>
      <p:sp>
        <p:nvSpPr>
          <p:cNvPr id="14" name="Text 12"/>
          <p:cNvSpPr txBox="1"/>
          <p:nvPr/>
        </p:nvSpPr>
        <p:spPr>
          <a:xfrm>
            <a:off x="2514600" y="3191256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Itinerário por dia, modal por trecho e detalhe com as três alternativas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548640" y="3849624"/>
            <a:ext cx="6766560" cy="640080"/>
          </a:xfrm>
          <a:prstGeom prst="roundRect">
            <a:avLst>
              <a:gd name="adj" fmla="val 7143"/>
            </a:avLst>
          </a:prstGeom>
          <a:solidFill>
            <a:srgbClr val="F4F7FA"/>
          </a:solidFill>
          <a:ln w="12700">
            <a:solidFill>
              <a:srgbClr val="D9E0E8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49808" y="4032504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US07, US08</a:t>
            </a:r>
            <a:endParaRPr lang="en-US" sz="1150" dirty="0"/>
          </a:p>
        </p:txBody>
      </p:sp>
      <p:sp>
        <p:nvSpPr>
          <p:cNvPr id="17" name="Text 15"/>
          <p:cNvSpPr txBox="1"/>
          <p:nvPr/>
        </p:nvSpPr>
        <p:spPr>
          <a:xfrm>
            <a:off x="2514600" y="3941064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Totais, economia e comparação com o cenário de referência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548640" y="4599432"/>
            <a:ext cx="6766560" cy="640080"/>
          </a:xfrm>
          <a:prstGeom prst="roundRect">
            <a:avLst>
              <a:gd name="adj" fmla="val 7143"/>
            </a:avLst>
          </a:prstGeom>
          <a:solidFill>
            <a:srgbClr val="F4F7FA"/>
          </a:solidFill>
          <a:ln w="12700">
            <a:solidFill>
              <a:srgbClr val="D9E0E8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749808" y="4782312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US09</a:t>
            </a:r>
            <a:endParaRPr lang="en-US" sz="1150" dirty="0"/>
          </a:p>
        </p:txBody>
      </p:sp>
      <p:sp>
        <p:nvSpPr>
          <p:cNvPr id="20" name="Text 18"/>
          <p:cNvSpPr txBox="1"/>
          <p:nvPr/>
        </p:nvSpPr>
        <p:spPr>
          <a:xfrm>
            <a:off x="2514600" y="4690872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Salvar, reabrir e exportar o planejamento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7589520" y="1600200"/>
            <a:ext cx="4023360" cy="3657600"/>
          </a:xfrm>
          <a:prstGeom prst="roundRect">
            <a:avLst>
              <a:gd name="adj" fmla="val 1250"/>
            </a:avLst>
          </a:prstGeom>
          <a:solidFill>
            <a:srgbClr val="12263A"/>
          </a:solidFill>
          <a:ln w="12700">
            <a:solidFill>
              <a:srgbClr val="12263A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818120" y="17830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Entregáveis</a:t>
            </a:r>
            <a:endParaRPr lang="en-US" sz="1800" dirty="0"/>
          </a:p>
        </p:txBody>
      </p:sp>
      <p:sp>
        <p:nvSpPr>
          <p:cNvPr id="23" name="Text 21"/>
          <p:cNvSpPr txBox="1"/>
          <p:nvPr/>
        </p:nvSpPr>
        <p:spPr>
          <a:xfrm>
            <a:off x="7818120" y="2194560"/>
            <a:ext cx="365760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7FC4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Repositório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CF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github.com/davi-cassiano/Projeto-Varela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CF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7FC4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Pull request revisado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CF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github.com/davi-cassiano/Projeto-Varela/pull/15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CF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7FC4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CF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Issues #1 a #14 · quadro em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CF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github.com/users/davi-cassiano/projects/1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CF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7FC4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Documentos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CF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docs/backlog.md · arquitetura.md · planejamento.md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CF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7FC4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Notebook dos modelos (Google Colab)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CF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colab.research.google.com/github/davi-cassiano/Projeto-Varela/blob/main/notebooks/modelos.ipynb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548640" y="5623560"/>
            <a:ext cx="11064240" cy="566928"/>
          </a:xfrm>
          <a:prstGeom prst="roundRect">
            <a:avLst>
              <a:gd name="adj" fmla="val 8065"/>
            </a:avLst>
          </a:prstGeom>
          <a:solidFill>
            <a:srgbClr val="12263A"/>
          </a:solidFill>
          <a:ln w="12700">
            <a:solidFill>
              <a:srgbClr val="12263A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822960" y="5779008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F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Próximo passo: Sprint 2 valida as stories de interface com um gerente real. A otimização da rota (US12) entra na Sprint 3.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Sistema de Roteirização de Visitas — Checkpoint Aulas 4 a 6</dc:title>
  <dc:subject>PptxGenJS Presentation</dc:subject>
  <dc:creator>PptxGenJS</dc:creator>
  <cp:lastModifiedBy>PptxGenJS</cp:lastModifiedBy>
  <cp:revision>1</cp:revision>
  <dcterms:created xsi:type="dcterms:W3CDTF">2026-10-15T21:58:44Z</dcterms:created>
  <dcterms:modified xsi:type="dcterms:W3CDTF">2026-10-15T21:58:44Z</dcterms:modified>
</cp:coreProperties>
</file>